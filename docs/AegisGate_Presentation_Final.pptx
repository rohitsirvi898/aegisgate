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3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3656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20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6.png"/><Relationship Id="rId4" Type="http://schemas.openxmlformats.org/officeDocument/2006/relationships/image" Target="../media/image8.png"/><Relationship Id="rId20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0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560320"/>
            <a:ext cx="5486400" cy="5486400"/>
          </a:xfrm>
          <a:prstGeom prst="ellipse">
            <a:avLst/>
          </a:prstGeom>
          <a:solidFill>
            <a:srgbClr val="132038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840480"/>
            <a:ext cx="5943600" cy="5943600"/>
          </a:xfrm>
          <a:prstGeom prst="ellipse">
            <a:avLst/>
          </a:prstGeom>
          <a:solidFill>
            <a:srgbClr val="1A1330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10048" y="1005840"/>
            <a:ext cx="1371600" cy="13716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5" name="Image 0" descr="/home/claude/aegisgate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1316736"/>
            <a:ext cx="749808" cy="749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0604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AegisGate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1371600" y="3520440"/>
            <a:ext cx="94484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Zero-Config API Gateway with Built-In AI Threat Detection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455268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B254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55268" y="4343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832708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B254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32708" y="4343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0148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B254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0148" y="4343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/ RBAC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87588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B254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87588" y="43434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Anomaly Detection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14400" y="59893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 ·  Node.js / TypeScript  ·  Python  ·  Docker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14400" y="635508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Rohit Sirvi  ·  Project Lead  ·  Status: Live / Production Deployed (v1.0.0)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Shouldn’t Require a DevOps Team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gateways like Nginx or Kong can do the job — but only after complex configuration files and custom scripts. For fast-moving microservice teams, that’s time they don’t have.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1064240" cy="1033272"/>
          </a:xfrm>
          <a:prstGeom prst="roundRect">
            <a:avLst>
              <a:gd name="adj" fmla="val 885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" y="2610612"/>
            <a:ext cx="658368" cy="658368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7" name="Image 0" descr="/home/claude/aegisgate/icons/alert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728" y="2775204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253288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Manual Configuration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2057400" y="289864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security — rate limiting, auth, anomaly detection — needs intricate config files and hand-rolled scripts.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657600"/>
            <a:ext cx="11064240" cy="1033272"/>
          </a:xfrm>
          <a:prstGeom prst="roundRect">
            <a:avLst>
              <a:gd name="adj" fmla="val 885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88136" y="3845052"/>
            <a:ext cx="658368" cy="658368"/>
          </a:xfrm>
          <a:prstGeom prst="ellipse">
            <a:avLst/>
          </a:prstGeom>
          <a:solidFill>
            <a:srgbClr val="F87171">
              <a:alpha val="16000"/>
            </a:srgbClr>
          </a:solidFill>
          <a:ln w="15875">
            <a:solidFill>
              <a:srgbClr val="F87171"/>
            </a:solidFill>
            <a:prstDash val="solid"/>
          </a:ln>
        </p:spPr>
      </p:sp>
      <p:pic>
        <p:nvPicPr>
          <p:cNvPr id="12" name="Image 1" descr="/home/claude/aegisgate/icons/c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728" y="4009644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376732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Room for a Dedicated DevOps Team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2057400" y="413308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engineers must secure rapidly growing microservices without the staff to run enterprise gateway clusters.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64240" cy="1033272"/>
          </a:xfrm>
          <a:prstGeom prst="roundRect">
            <a:avLst>
              <a:gd name="adj" fmla="val 885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88136" y="5079492"/>
            <a:ext cx="658368" cy="658368"/>
          </a:xfrm>
          <a:prstGeom prst="ellipse">
            <a:avLst/>
          </a:prstGeom>
          <a:solidFill>
            <a:srgbClr val="94A3B8">
              <a:alpha val="16000"/>
            </a:srgbClr>
          </a:solidFill>
          <a:ln w="15875">
            <a:solidFill>
              <a:srgbClr val="94A3B8"/>
            </a:solidFill>
            <a:prstDash val="solid"/>
          </a:ln>
        </p:spPr>
      </p:sp>
      <p:pic>
        <p:nvPicPr>
          <p:cNvPr id="17" name="Image 2" descr="/home/claude/aegisgate/icons/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5244084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57400" y="500176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Bolted On, Not Built In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2057400" y="5367528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limiting, JWT validation, and threat detection are add-ons — not out-of-the-box, zero-config features.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The Problem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Gateway. Less Config. Full Coverage.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 is an open-source API gateway for microservices that ships with distributed rate limiting, JWT validation, and AI-powered anomaly detection — out of the box.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0868" y="24688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43888" y="2788920"/>
            <a:ext cx="914400" cy="914400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7" name="Image 0" descr="/home/claude/aegisgate/icons/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488" y="3017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9468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High-Throughput Speed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60908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Sub-100ms round-trip response time under high-concurrency load testing (down from ~932ms baseline), with &lt;3ms raw gateway overhead — powered by Redis hot-path caching and TCP connection pooling.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35628" y="24688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38648" y="2788920"/>
            <a:ext cx="914400" cy="9144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12" name="Image 1" descr="/home/claude/aegisgate/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30175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64228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by Default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55668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 validation and Redis-backed rate limiting are on from the first request, with no setup.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24688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433408" y="2788920"/>
            <a:ext cx="914400" cy="914400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17" name="Image 2" descr="/home/claude/aegisgate/icons/cp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2008" y="301752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58988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450428" y="434340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embedded ML model screens every request in under 2ms; an LLM explains the threats it finds.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The Solution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Planes, One Gateway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is secured in real time on the Data Plane. Anything suspicious is handed off to the Control Plane, which investigates in the background — without ever slowing down live traffic.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12848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11A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12848"/>
            <a:ext cx="2331720" cy="384048"/>
          </a:xfrm>
          <a:prstGeom prst="roundRect">
            <a:avLst>
              <a:gd name="adj" fmla="val 19048"/>
            </a:avLst>
          </a:prstGeom>
          <a:solidFill>
            <a:srgbClr val="22D3EE">
              <a:alpha val="1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128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· &lt;3ms</a:t>
            </a:r>
            <a:endParaRPr lang="en-US" sz="1100" dirty="0"/>
          </a:p>
        </p:txBody>
      </p:sp>
      <p:sp>
        <p:nvSpPr>
          <p:cNvPr id="500" name="Shape N"/>
          <p:cNvSpPr/>
          <p:nvPr/>
        </p:nvSpPr>
        <p:spPr>
          <a:xfrm>
            <a:off x="1719072" y="2688336"/>
            <a:ext cx="1331976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501" name="Shape N"/>
          <p:cNvSpPr/>
          <p:nvPr/>
        </p:nvSpPr>
        <p:spPr>
          <a:xfrm>
            <a:off x="2156460" y="2788920"/>
            <a:ext cx="457200" cy="4572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502" name="Image N" descr="/home/claude/aegisgate/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5332" y="2907792"/>
            <a:ext cx="219456" cy="219456"/>
          </a:xfrm>
          <a:prstGeom prst="rect">
            <a:avLst/>
          </a:prstGeom>
        </p:spPr>
      </p:pic>
      <p:sp>
        <p:nvSpPr>
          <p:cNvPr id="503" name="Text N"/>
          <p:cNvSpPr/>
          <p:nvPr/>
        </p:nvSpPr>
        <p:spPr>
          <a:xfrm>
            <a:off x="1773936" y="3291840"/>
            <a:ext cx="1222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Proxy</a:t>
            </a:r>
            <a:endParaRPr lang="en-US" sz="900" dirty="0"/>
          </a:p>
        </p:txBody>
      </p:sp>
      <p:sp>
        <p:nvSpPr>
          <p:cNvPr id="504" name="Text N"/>
          <p:cNvSpPr/>
          <p:nvPr/>
        </p:nvSpPr>
        <p:spPr>
          <a:xfrm>
            <a:off x="3041904" y="2688336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05" name="Shape N"/>
          <p:cNvSpPr/>
          <p:nvPr/>
        </p:nvSpPr>
        <p:spPr>
          <a:xfrm>
            <a:off x="3197352" y="2688336"/>
            <a:ext cx="1331976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506" name="Shape N"/>
          <p:cNvSpPr/>
          <p:nvPr/>
        </p:nvSpPr>
        <p:spPr>
          <a:xfrm>
            <a:off x="3634740" y="2788920"/>
            <a:ext cx="457200" cy="4572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507" name="Image N" descr="/home/claude/aegisgate/icons/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3612" y="2907792"/>
            <a:ext cx="219456" cy="219456"/>
          </a:xfrm>
          <a:prstGeom prst="rect">
            <a:avLst/>
          </a:prstGeom>
        </p:spPr>
      </p:pic>
      <p:sp>
        <p:nvSpPr>
          <p:cNvPr id="508" name="Text N"/>
          <p:cNvSpPr/>
          <p:nvPr/>
        </p:nvSpPr>
        <p:spPr>
          <a:xfrm>
            <a:off x="3252216" y="3291840"/>
            <a:ext cx="1222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</a:t>
            </a:r>
            <a:endParaRPr lang="en-US" sz="900" dirty="0"/>
          </a:p>
        </p:txBody>
      </p:sp>
      <p:sp>
        <p:nvSpPr>
          <p:cNvPr id="509" name="Text N"/>
          <p:cNvSpPr/>
          <p:nvPr/>
        </p:nvSpPr>
        <p:spPr>
          <a:xfrm>
            <a:off x="4520184" y="2688336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10" name="Shape N"/>
          <p:cNvSpPr/>
          <p:nvPr/>
        </p:nvSpPr>
        <p:spPr>
          <a:xfrm>
            <a:off x="4675632" y="2688336"/>
            <a:ext cx="1331976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511" name="Shape N"/>
          <p:cNvSpPr/>
          <p:nvPr/>
        </p:nvSpPr>
        <p:spPr>
          <a:xfrm>
            <a:off x="5113020" y="2788920"/>
            <a:ext cx="457200" cy="4572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512" name="Image N" descr="/home/claude/aegisgate/icons/activ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1892" y="2907792"/>
            <a:ext cx="219456" cy="219456"/>
          </a:xfrm>
          <a:prstGeom prst="rect">
            <a:avLst/>
          </a:prstGeom>
        </p:spPr>
      </p:pic>
      <p:sp>
        <p:nvSpPr>
          <p:cNvPr id="513" name="Text N"/>
          <p:cNvSpPr/>
          <p:nvPr/>
        </p:nvSpPr>
        <p:spPr>
          <a:xfrm>
            <a:off x="4730496" y="3291840"/>
            <a:ext cx="1222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Limiter</a:t>
            </a:r>
            <a:endParaRPr lang="en-US" sz="900" dirty="0"/>
          </a:p>
        </p:txBody>
      </p:sp>
      <p:sp>
        <p:nvSpPr>
          <p:cNvPr id="514" name="Text N"/>
          <p:cNvSpPr/>
          <p:nvPr/>
        </p:nvSpPr>
        <p:spPr>
          <a:xfrm>
            <a:off x="5998464" y="2688336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15" name="Shape N"/>
          <p:cNvSpPr/>
          <p:nvPr/>
        </p:nvSpPr>
        <p:spPr>
          <a:xfrm>
            <a:off x="6153912" y="2688336"/>
            <a:ext cx="1331976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516" name="Shape N"/>
          <p:cNvSpPr/>
          <p:nvPr/>
        </p:nvSpPr>
        <p:spPr>
          <a:xfrm>
            <a:off x="6591300" y="2788920"/>
            <a:ext cx="457200" cy="4572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517" name="Image N" descr="/home/claude/aegisgate/icons/databa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10172" y="2907792"/>
            <a:ext cx="219456" cy="219456"/>
          </a:xfrm>
          <a:prstGeom prst="rect">
            <a:avLst/>
          </a:prstGeom>
        </p:spPr>
      </p:pic>
      <p:sp>
        <p:nvSpPr>
          <p:cNvPr id="518" name="Text N"/>
          <p:cNvSpPr/>
          <p:nvPr/>
        </p:nvSpPr>
        <p:spPr>
          <a:xfrm>
            <a:off x="6208776" y="3291840"/>
            <a:ext cx="1222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</a:t>
            </a:r>
            <a:endParaRPr lang="en-US" sz="900" dirty="0"/>
          </a:p>
        </p:txBody>
      </p:sp>
      <p:sp>
        <p:nvSpPr>
          <p:cNvPr id="519" name="Text N"/>
          <p:cNvSpPr/>
          <p:nvPr/>
        </p:nvSpPr>
        <p:spPr>
          <a:xfrm>
            <a:off x="7476744" y="2688336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20" name="Shape N"/>
          <p:cNvSpPr/>
          <p:nvPr/>
        </p:nvSpPr>
        <p:spPr>
          <a:xfrm>
            <a:off x="7632192" y="2688336"/>
            <a:ext cx="1331976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521" name="Shape N"/>
          <p:cNvSpPr/>
          <p:nvPr/>
        </p:nvSpPr>
        <p:spPr>
          <a:xfrm>
            <a:off x="8069580" y="2788920"/>
            <a:ext cx="457200" cy="4572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522" name="Image N" descr="/home/claude/aegisgate/icons/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8452" y="2907792"/>
            <a:ext cx="219456" cy="219456"/>
          </a:xfrm>
          <a:prstGeom prst="rect">
            <a:avLst/>
          </a:prstGeom>
        </p:spPr>
      </p:pic>
      <p:sp>
        <p:nvSpPr>
          <p:cNvPr id="523" name="Text N"/>
          <p:cNvSpPr/>
          <p:nvPr/>
        </p:nvSpPr>
        <p:spPr>
          <a:xfrm>
            <a:off x="7687056" y="3291840"/>
            <a:ext cx="1222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Firewall</a:t>
            </a:r>
            <a:endParaRPr lang="en-US" sz="900" dirty="0"/>
          </a:p>
        </p:txBody>
      </p:sp>
      <p:sp>
        <p:nvSpPr>
          <p:cNvPr id="524" name="Text N"/>
          <p:cNvSpPr/>
          <p:nvPr/>
        </p:nvSpPr>
        <p:spPr>
          <a:xfrm>
            <a:off x="8955024" y="2688336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25" name="Shape N"/>
          <p:cNvSpPr/>
          <p:nvPr/>
        </p:nvSpPr>
        <p:spPr>
          <a:xfrm>
            <a:off x="9110472" y="2688336"/>
            <a:ext cx="1331976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526" name="Shape N"/>
          <p:cNvSpPr/>
          <p:nvPr/>
        </p:nvSpPr>
        <p:spPr>
          <a:xfrm>
            <a:off x="9547860" y="2788920"/>
            <a:ext cx="457200" cy="4572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527" name="Image N" descr="/home/claude/aegisgate/icons/ser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6732" y="2907792"/>
            <a:ext cx="219456" cy="219456"/>
          </a:xfrm>
          <a:prstGeom prst="rect">
            <a:avLst/>
          </a:prstGeom>
        </p:spPr>
      </p:pic>
      <p:sp>
        <p:nvSpPr>
          <p:cNvPr id="528" name="Text N"/>
          <p:cNvSpPr/>
          <p:nvPr/>
        </p:nvSpPr>
        <p:spPr>
          <a:xfrm>
            <a:off x="9165336" y="3291840"/>
            <a:ext cx="1222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548640" y="416052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11A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48640" y="4160520"/>
            <a:ext cx="2331720" cy="384048"/>
          </a:xfrm>
          <a:prstGeom prst="roundRect">
            <a:avLst>
              <a:gd name="adj" fmla="val 19048"/>
            </a:avLst>
          </a:prstGeom>
          <a:solidFill>
            <a:srgbClr val="F59E0B">
              <a:alpha val="18000"/>
            </a:srgbClr>
          </a:solidFill>
          <a:ln/>
        </p:spPr>
      </p:sp>
      <p:sp>
        <p:nvSpPr>
          <p:cNvPr id="34" name="Text 27"/>
          <p:cNvSpPr/>
          <p:nvPr/>
        </p:nvSpPr>
        <p:spPr>
          <a:xfrm>
            <a:off x="548640" y="41605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· ASYNC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1719072" y="4636008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304288" y="4736592"/>
            <a:ext cx="457200" cy="457200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37" name="Image 5" descr="/home/claude/aegisgate/icons/alert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4855464"/>
            <a:ext cx="219456" cy="21945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773936" y="52395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Event</a:t>
            </a:r>
            <a:endParaRPr lang="en-US" sz="970" dirty="0"/>
          </a:p>
        </p:txBody>
      </p:sp>
      <p:sp>
        <p:nvSpPr>
          <p:cNvPr id="39" name="Text 31"/>
          <p:cNvSpPr/>
          <p:nvPr/>
        </p:nvSpPr>
        <p:spPr>
          <a:xfrm>
            <a:off x="3344786" y="4633281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0" name="Shape 32"/>
          <p:cNvSpPr/>
          <p:nvPr/>
        </p:nvSpPr>
        <p:spPr>
          <a:xfrm>
            <a:off x="3493008" y="4636008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078224" y="4736592"/>
            <a:ext cx="457200" cy="457200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42" name="Image 6" descr="/home/claude/aegisgate/icons/repe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7096" y="4855464"/>
            <a:ext cx="219456" cy="21945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3547872" y="52395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70" dirty="0"/>
          </a:p>
        </p:txBody>
      </p:sp>
      <p:sp>
        <p:nvSpPr>
          <p:cNvPr id="44" name="Text 35"/>
          <p:cNvSpPr/>
          <p:nvPr/>
        </p:nvSpPr>
        <p:spPr>
          <a:xfrm>
            <a:off x="5110057" y="4636008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5" name="Shape 36"/>
          <p:cNvSpPr/>
          <p:nvPr/>
        </p:nvSpPr>
        <p:spPr>
          <a:xfrm>
            <a:off x="5266944" y="4636008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5852160" y="4736592"/>
            <a:ext cx="457200" cy="457200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47" name="Image 7" descr="/home/claude/aegisgate/icons/ey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71032" y="4855464"/>
            <a:ext cx="219456" cy="219456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5321808" y="52395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Worker</a:t>
            </a:r>
            <a:endParaRPr lang="en-US" sz="970" dirty="0"/>
          </a:p>
        </p:txBody>
      </p:sp>
      <p:sp>
        <p:nvSpPr>
          <p:cNvPr id="49" name="Text 39"/>
          <p:cNvSpPr/>
          <p:nvPr/>
        </p:nvSpPr>
        <p:spPr>
          <a:xfrm>
            <a:off x="6892012" y="4636008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0" name="Shape 40"/>
          <p:cNvSpPr/>
          <p:nvPr/>
        </p:nvSpPr>
        <p:spPr>
          <a:xfrm>
            <a:off x="7040880" y="4636008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7626096" y="4736592"/>
            <a:ext cx="457200" cy="457200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52" name="Image 8" descr="/home/claude/aegisgate/icons/messagesquar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44968" y="4855464"/>
            <a:ext cx="219456" cy="219456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7095744" y="52395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LLM</a:t>
            </a:r>
            <a:endParaRPr lang="en-US" sz="970" dirty="0"/>
          </a:p>
        </p:txBody>
      </p:sp>
      <p:sp>
        <p:nvSpPr>
          <p:cNvPr id="54" name="Text 43"/>
          <p:cNvSpPr/>
          <p:nvPr/>
        </p:nvSpPr>
        <p:spPr>
          <a:xfrm>
            <a:off x="8650224" y="4618442"/>
            <a:ext cx="164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5" name="Shape 44"/>
          <p:cNvSpPr/>
          <p:nvPr/>
        </p:nvSpPr>
        <p:spPr>
          <a:xfrm>
            <a:off x="8814816" y="4636008"/>
            <a:ext cx="1627632" cy="1051560"/>
          </a:xfrm>
          <a:prstGeom prst="roundRect">
            <a:avLst>
              <a:gd name="adj" fmla="val 6957"/>
            </a:avLst>
          </a:prstGeom>
          <a:solidFill>
            <a:srgbClr val="1B2540"/>
          </a:solidFill>
          <a:ln w="15875">
            <a:solidFill>
              <a:srgbClr val="26314A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9400032" y="4736592"/>
            <a:ext cx="457200" cy="457200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57" name="Image 9" descr="/home/claude/aegisgate/icons/databas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18904" y="4855464"/>
            <a:ext cx="219456" cy="219456"/>
          </a:xfrm>
          <a:prstGeom prst="rect">
            <a:avLst/>
          </a:prstGeom>
        </p:spPr>
      </p:pic>
      <p:sp>
        <p:nvSpPr>
          <p:cNvPr id="58" name="Text 46"/>
          <p:cNvSpPr/>
          <p:nvPr/>
        </p:nvSpPr>
        <p:spPr>
          <a:xfrm>
            <a:off x="8869680" y="52395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970" dirty="0"/>
          </a:p>
        </p:txBody>
      </p:sp>
      <p:sp>
        <p:nvSpPr>
          <p:cNvPr id="99" name="Text PII Note"/>
          <p:cNvSpPr/>
          <p:nvPr/>
        </p:nvSpPr>
        <p:spPr>
          <a:xfrm>
            <a:off x="731520" y="56845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Privacy: local regex scrubs password, credit_card, ssn, and email fields before queueing — setting enableLLMAudit: false skips Gemini entirely and labels events UNANALYZED_PRIVACY_OPT_OUT.</a:t>
            </a:r>
            <a:endParaRPr lang="en-US" sz="950" i="1" dirty="0"/>
          </a:p>
        </p:txBody>
      </p:sp>
      <p:sp>
        <p:nvSpPr>
          <p:cNvPr id="59" name="Text 47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traffic detected on the Data Plane is routed down to the Control Plane for deeper, LLM-driven analysis — asynchronously.</a:t>
            </a:r>
            <a:endParaRPr lang="en-US" sz="1100" dirty="0"/>
          </a:p>
        </p:txBody>
      </p:sp>
      <p:sp>
        <p:nvSpPr>
          <p:cNvPr id="60" name="Text 48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61" name="Text 49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Architecture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· DEEP DIVE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Request, Secured in Milliseconds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checks run synchronously on the critical path — fast enough that clients never notice.</a:t>
            </a:r>
            <a:endParaRPr lang="en-US" sz="1350" dirty="0"/>
          </a:p>
        </p:txBody>
      </p:sp>
      <p:sp>
        <p:nvSpPr>
          <p:cNvPr id="600" name="Shape N"/>
          <p:cNvSpPr/>
          <p:nvPr/>
        </p:nvSpPr>
        <p:spPr>
          <a:xfrm>
            <a:off x="764896" y="2148840"/>
            <a:ext cx="1632204" cy="2651760"/>
          </a:xfrm>
          <a:prstGeom prst="roundRect">
            <a:avLst>
              <a:gd name="adj" fmla="val 458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01" name="Shape N"/>
          <p:cNvSpPr/>
          <p:nvPr/>
        </p:nvSpPr>
        <p:spPr>
          <a:xfrm>
            <a:off x="883768" y="2267712"/>
            <a:ext cx="329184" cy="329184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02" name="Text N"/>
          <p:cNvSpPr/>
          <p:nvPr/>
        </p:nvSpPr>
        <p:spPr>
          <a:xfrm>
            <a:off x="883768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03" name="Shape N"/>
          <p:cNvSpPr/>
          <p:nvPr/>
        </p:nvSpPr>
        <p:spPr>
          <a:xfrm>
            <a:off x="1224382" y="2752344"/>
            <a:ext cx="713232" cy="713232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04" name="Image N" descr="/home/claude/aegisgate/icons/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262" y="2935224"/>
            <a:ext cx="347472" cy="347472"/>
          </a:xfrm>
          <a:prstGeom prst="rect">
            <a:avLst/>
          </a:prstGeom>
        </p:spPr>
      </p:pic>
      <p:sp>
        <p:nvSpPr>
          <p:cNvPr id="605" name="Text N"/>
          <p:cNvSpPr/>
          <p:nvPr/>
        </p:nvSpPr>
        <p:spPr>
          <a:xfrm>
            <a:off x="874624" y="3566160"/>
            <a:ext cx="14127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Proxy</a:t>
            </a:r>
            <a:endParaRPr lang="en-US" sz="1250" dirty="0"/>
          </a:p>
        </p:txBody>
      </p:sp>
      <p:sp>
        <p:nvSpPr>
          <p:cNvPr id="606" name="Text N"/>
          <p:cNvSpPr/>
          <p:nvPr/>
        </p:nvSpPr>
        <p:spPr>
          <a:xfrm>
            <a:off x="911200" y="3931920"/>
            <a:ext cx="1339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Intercepts the incoming HTTP request at the edge (port 8080).</a:t>
            </a:r>
            <a:endParaRPr lang="en-US" sz="970" dirty="0"/>
          </a:p>
        </p:txBody>
      </p:sp>
      <p:sp>
        <p:nvSpPr>
          <p:cNvPr id="607" name="Text N"/>
          <p:cNvSpPr/>
          <p:nvPr/>
        </p:nvSpPr>
        <p:spPr>
          <a:xfrm>
            <a:off x="2378812" y="2148840"/>
            <a:ext cx="2103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08" name="Shape N"/>
          <p:cNvSpPr/>
          <p:nvPr/>
        </p:nvSpPr>
        <p:spPr>
          <a:xfrm>
            <a:off x="2570836" y="2148840"/>
            <a:ext cx="1632204" cy="2651760"/>
          </a:xfrm>
          <a:prstGeom prst="roundRect">
            <a:avLst>
              <a:gd name="adj" fmla="val 458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09" name="Shape N"/>
          <p:cNvSpPr/>
          <p:nvPr/>
        </p:nvSpPr>
        <p:spPr>
          <a:xfrm>
            <a:off x="2689708" y="2267712"/>
            <a:ext cx="329184" cy="329184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10" name="Text N"/>
          <p:cNvSpPr/>
          <p:nvPr/>
        </p:nvSpPr>
        <p:spPr>
          <a:xfrm>
            <a:off x="2689708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11" name="Shape N"/>
          <p:cNvSpPr/>
          <p:nvPr/>
        </p:nvSpPr>
        <p:spPr>
          <a:xfrm>
            <a:off x="3030322" y="2752344"/>
            <a:ext cx="713232" cy="713232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12" name="Image N" descr="/home/claude/aegisgate/icons/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202" y="2935224"/>
            <a:ext cx="347472" cy="347472"/>
          </a:xfrm>
          <a:prstGeom prst="rect">
            <a:avLst/>
          </a:prstGeom>
        </p:spPr>
      </p:pic>
      <p:sp>
        <p:nvSpPr>
          <p:cNvPr id="613" name="Text N"/>
          <p:cNvSpPr/>
          <p:nvPr/>
        </p:nvSpPr>
        <p:spPr>
          <a:xfrm>
            <a:off x="2680564" y="3566160"/>
            <a:ext cx="14127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</a:t>
            </a:r>
            <a:endParaRPr lang="en-US" sz="1250" dirty="0"/>
          </a:p>
        </p:txBody>
      </p:sp>
      <p:sp>
        <p:nvSpPr>
          <p:cNvPr id="614" name="Text N"/>
          <p:cNvSpPr/>
          <p:nvPr/>
        </p:nvSpPr>
        <p:spPr>
          <a:xfrm>
            <a:off x="2717140" y="3931920"/>
            <a:ext cx="1339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Cryptographically verifies the token and its RBAC scopes.</a:t>
            </a:r>
            <a:endParaRPr lang="en-US" sz="970" dirty="0"/>
          </a:p>
        </p:txBody>
      </p:sp>
      <p:sp>
        <p:nvSpPr>
          <p:cNvPr id="615" name="Text N"/>
          <p:cNvSpPr/>
          <p:nvPr/>
        </p:nvSpPr>
        <p:spPr>
          <a:xfrm>
            <a:off x="4184752" y="2148840"/>
            <a:ext cx="2103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16" name="Shape N"/>
          <p:cNvSpPr/>
          <p:nvPr/>
        </p:nvSpPr>
        <p:spPr>
          <a:xfrm>
            <a:off x="4376776" y="2148840"/>
            <a:ext cx="1632204" cy="2651760"/>
          </a:xfrm>
          <a:prstGeom prst="roundRect">
            <a:avLst>
              <a:gd name="adj" fmla="val 458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17" name="Shape N"/>
          <p:cNvSpPr/>
          <p:nvPr/>
        </p:nvSpPr>
        <p:spPr>
          <a:xfrm>
            <a:off x="4495648" y="2267712"/>
            <a:ext cx="329184" cy="329184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18" name="Text N"/>
          <p:cNvSpPr/>
          <p:nvPr/>
        </p:nvSpPr>
        <p:spPr>
          <a:xfrm>
            <a:off x="4495648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619" name="Shape N"/>
          <p:cNvSpPr/>
          <p:nvPr/>
        </p:nvSpPr>
        <p:spPr>
          <a:xfrm>
            <a:off x="4836262" y="2752344"/>
            <a:ext cx="713232" cy="713232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20" name="Image N" descr="/home/claude/aegisgate/icons/activ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9142" y="2935224"/>
            <a:ext cx="347472" cy="347472"/>
          </a:xfrm>
          <a:prstGeom prst="rect">
            <a:avLst/>
          </a:prstGeom>
        </p:spPr>
      </p:pic>
      <p:sp>
        <p:nvSpPr>
          <p:cNvPr id="621" name="Text N"/>
          <p:cNvSpPr/>
          <p:nvPr/>
        </p:nvSpPr>
        <p:spPr>
          <a:xfrm>
            <a:off x="4486504" y="3566160"/>
            <a:ext cx="14127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Limiter</a:t>
            </a:r>
            <a:endParaRPr lang="en-US" sz="1250" dirty="0"/>
          </a:p>
        </p:txBody>
      </p:sp>
      <p:sp>
        <p:nvSpPr>
          <p:cNvPr id="622" name="Text N"/>
          <p:cNvSpPr/>
          <p:nvPr/>
        </p:nvSpPr>
        <p:spPr>
          <a:xfrm>
            <a:off x="4523080" y="3931920"/>
            <a:ext cx="1339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 atomic INCR + EXPIRE Lua script for O(1) blocking — no DB lookups or ZSET locks.</a:t>
            </a:r>
            <a:endParaRPr lang="en-US" sz="970" dirty="0"/>
          </a:p>
        </p:txBody>
      </p:sp>
      <p:sp>
        <p:nvSpPr>
          <p:cNvPr id="623" name="Text N"/>
          <p:cNvSpPr/>
          <p:nvPr/>
        </p:nvSpPr>
        <p:spPr>
          <a:xfrm>
            <a:off x="5990692" y="2148840"/>
            <a:ext cx="2103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24" name="Shape N"/>
          <p:cNvSpPr/>
          <p:nvPr/>
        </p:nvSpPr>
        <p:spPr>
          <a:xfrm>
            <a:off x="6182716" y="2148840"/>
            <a:ext cx="1632204" cy="2651760"/>
          </a:xfrm>
          <a:prstGeom prst="roundRect">
            <a:avLst>
              <a:gd name="adj" fmla="val 458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25" name="Shape N"/>
          <p:cNvSpPr/>
          <p:nvPr/>
        </p:nvSpPr>
        <p:spPr>
          <a:xfrm>
            <a:off x="6301588" y="2267712"/>
            <a:ext cx="329184" cy="329184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26" name="Text N"/>
          <p:cNvSpPr/>
          <p:nvPr/>
        </p:nvSpPr>
        <p:spPr>
          <a:xfrm>
            <a:off x="6301588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627" name="Shape N"/>
          <p:cNvSpPr/>
          <p:nvPr/>
        </p:nvSpPr>
        <p:spPr>
          <a:xfrm>
            <a:off x="6642202" y="2752344"/>
            <a:ext cx="713232" cy="713232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28" name="Image N" descr="/home/claude/aegisgate/icons/databas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25082" y="2935224"/>
            <a:ext cx="347472" cy="347472"/>
          </a:xfrm>
          <a:prstGeom prst="rect">
            <a:avLst/>
          </a:prstGeom>
        </p:spPr>
      </p:pic>
      <p:sp>
        <p:nvSpPr>
          <p:cNvPr id="629" name="Text N"/>
          <p:cNvSpPr/>
          <p:nvPr/>
        </p:nvSpPr>
        <p:spPr>
          <a:xfrm>
            <a:off x="6292444" y="3566160"/>
            <a:ext cx="14127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Cache</a:t>
            </a:r>
            <a:endParaRPr lang="en-US" sz="1250" dirty="0"/>
          </a:p>
        </p:txBody>
      </p:sp>
      <p:sp>
        <p:nvSpPr>
          <p:cNvPr id="630" name="Text N"/>
          <p:cNvSpPr/>
          <p:nvPr/>
        </p:nvSpPr>
        <p:spPr>
          <a:xfrm>
            <a:off x="6329020" y="3931920"/>
            <a:ext cx="1339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API keys, routing, and security settings from Redis — bypassing MongoDB on every request.</a:t>
            </a:r>
            <a:endParaRPr lang="en-US" sz="970" dirty="0"/>
          </a:p>
        </p:txBody>
      </p:sp>
      <p:sp>
        <p:nvSpPr>
          <p:cNvPr id="631" name="Text N"/>
          <p:cNvSpPr/>
          <p:nvPr/>
        </p:nvSpPr>
        <p:spPr>
          <a:xfrm>
            <a:off x="7796632" y="2148840"/>
            <a:ext cx="2103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32" name="Shape N"/>
          <p:cNvSpPr/>
          <p:nvPr/>
        </p:nvSpPr>
        <p:spPr>
          <a:xfrm>
            <a:off x="7988656" y="2148840"/>
            <a:ext cx="1632204" cy="2651760"/>
          </a:xfrm>
          <a:prstGeom prst="roundRect">
            <a:avLst>
              <a:gd name="adj" fmla="val 458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33" name="Shape N"/>
          <p:cNvSpPr/>
          <p:nvPr/>
        </p:nvSpPr>
        <p:spPr>
          <a:xfrm>
            <a:off x="8107528" y="2267712"/>
            <a:ext cx="329184" cy="329184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34" name="Text N"/>
          <p:cNvSpPr/>
          <p:nvPr/>
        </p:nvSpPr>
        <p:spPr>
          <a:xfrm>
            <a:off x="8107528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35" name="Shape N"/>
          <p:cNvSpPr/>
          <p:nvPr/>
        </p:nvSpPr>
        <p:spPr>
          <a:xfrm>
            <a:off x="8448142" y="2752344"/>
            <a:ext cx="713232" cy="713232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36" name="Image N" descr="/home/claude/aegisgate/icons/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022" y="2935224"/>
            <a:ext cx="347472" cy="347472"/>
          </a:xfrm>
          <a:prstGeom prst="rect">
            <a:avLst/>
          </a:prstGeom>
        </p:spPr>
      </p:pic>
      <p:sp>
        <p:nvSpPr>
          <p:cNvPr id="637" name="Text N"/>
          <p:cNvSpPr/>
          <p:nvPr/>
        </p:nvSpPr>
        <p:spPr>
          <a:xfrm>
            <a:off x="8098384" y="3566160"/>
            <a:ext cx="14127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Firewall</a:t>
            </a:r>
            <a:endParaRPr lang="en-US" sz="1250" dirty="0"/>
          </a:p>
        </p:txBody>
      </p:sp>
      <p:sp>
        <p:nvSpPr>
          <p:cNvPr id="638" name="Text N"/>
          <p:cNvSpPr/>
          <p:nvPr/>
        </p:nvSpPr>
        <p:spPr>
          <a:xfrm>
            <a:off x="8134960" y="3931920"/>
            <a:ext cx="1339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Isolation Forest model scores the payload's structure in &lt;2ms.</a:t>
            </a:r>
            <a:endParaRPr lang="en-US" sz="970" dirty="0"/>
          </a:p>
        </p:txBody>
      </p:sp>
      <p:sp>
        <p:nvSpPr>
          <p:cNvPr id="639" name="Text N"/>
          <p:cNvSpPr/>
          <p:nvPr/>
        </p:nvSpPr>
        <p:spPr>
          <a:xfrm>
            <a:off x="9602572" y="2148840"/>
            <a:ext cx="2103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40" name="Shape N"/>
          <p:cNvSpPr/>
          <p:nvPr/>
        </p:nvSpPr>
        <p:spPr>
          <a:xfrm>
            <a:off x="9794596" y="2148840"/>
            <a:ext cx="1632204" cy="2651760"/>
          </a:xfrm>
          <a:prstGeom prst="roundRect">
            <a:avLst>
              <a:gd name="adj" fmla="val 458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41" name="Shape N"/>
          <p:cNvSpPr/>
          <p:nvPr/>
        </p:nvSpPr>
        <p:spPr>
          <a:xfrm>
            <a:off x="9913468" y="2267712"/>
            <a:ext cx="329184" cy="329184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642" name="Text N"/>
          <p:cNvSpPr/>
          <p:nvPr/>
        </p:nvSpPr>
        <p:spPr>
          <a:xfrm>
            <a:off x="9913468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643" name="Shape N"/>
          <p:cNvSpPr/>
          <p:nvPr/>
        </p:nvSpPr>
        <p:spPr>
          <a:xfrm>
            <a:off x="10254082" y="2752344"/>
            <a:ext cx="713232" cy="713232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44" name="Image N" descr="/home/claude/aegisgate/icons/ser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6962" y="2935224"/>
            <a:ext cx="347472" cy="347472"/>
          </a:xfrm>
          <a:prstGeom prst="rect">
            <a:avLst/>
          </a:prstGeom>
        </p:spPr>
      </p:pic>
      <p:sp>
        <p:nvSpPr>
          <p:cNvPr id="645" name="Text N"/>
          <p:cNvSpPr/>
          <p:nvPr/>
        </p:nvSpPr>
        <p:spPr>
          <a:xfrm>
            <a:off x="9904324" y="3566160"/>
            <a:ext cx="14127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Forwarder</a:t>
            </a:r>
            <a:endParaRPr lang="en-US" sz="1250" dirty="0"/>
          </a:p>
        </p:txBody>
      </p:sp>
      <p:sp>
        <p:nvSpPr>
          <p:cNvPr id="646" name="Text N"/>
          <p:cNvSpPr/>
          <p:nvPr/>
        </p:nvSpPr>
        <p:spPr>
          <a:xfrm>
            <a:off x="9940900" y="3931920"/>
            <a:ext cx="13395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persistent TCP sockets via http.Agent to eliminate handshake overhead when forwarding.</a:t>
            </a:r>
            <a:endParaRPr lang="en-US" sz="970" dirty="0"/>
          </a:p>
        </p:txBody>
      </p:sp>
      <p:sp>
        <p:nvSpPr>
          <p:cNvPr id="44" name="Shape 37"/>
          <p:cNvSpPr/>
          <p:nvPr/>
        </p:nvSpPr>
        <p:spPr>
          <a:xfrm>
            <a:off x="3200400" y="5212080"/>
            <a:ext cx="5788152" cy="914400"/>
          </a:xfrm>
          <a:prstGeom prst="roundRect">
            <a:avLst>
              <a:gd name="adj" fmla="val 12000"/>
            </a:avLst>
          </a:prstGeom>
          <a:solidFill>
            <a:srgbClr val="1B254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200400" y="5212080"/>
            <a:ext cx="5788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3ms  </a:t>
            </a: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gateway overhead, end to end</a:t>
            </a:r>
            <a:endParaRPr lang="en-US" sz="3000" dirty="0"/>
          </a:p>
        </p:txBody>
      </p:sp>
      <p:sp>
        <p:nvSpPr>
          <p:cNvPr id="46" name="Text 39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Data Plane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· DEEP DIVE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Something Looks Off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traffic never blocks a live request — it's queued, batched, and explained by an LLM in the background.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96316" y="2148840"/>
            <a:ext cx="1700784" cy="2331720"/>
          </a:xfrm>
          <a:prstGeom prst="roundRect">
            <a:avLst>
              <a:gd name="adj" fmla="val 5376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44956" y="2414016"/>
            <a:ext cx="603504" cy="603504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7" name="Image 0" descr="/home/claude/aegisgate/icons/alert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404" y="2569464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7756" y="308152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Telemetry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806044" y="356616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via setImmediate — queues to RabbitMQ without blocking the live HTTP response.</a:t>
            </a:r>
            <a:endParaRPr lang="en-US" sz="870" dirty="0"/>
          </a:p>
        </p:txBody>
      </p:sp>
      <p:sp>
        <p:nvSpPr>
          <p:cNvPr id="10" name="Text 7"/>
          <p:cNvSpPr/>
          <p:nvPr/>
        </p:nvSpPr>
        <p:spPr>
          <a:xfrm>
            <a:off x="2378812" y="2148840"/>
            <a:ext cx="1554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15972" y="2148840"/>
            <a:ext cx="1700784" cy="2331720"/>
          </a:xfrm>
          <a:prstGeom prst="roundRect">
            <a:avLst>
              <a:gd name="adj" fmla="val 5376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64612" y="2414016"/>
            <a:ext cx="603504" cy="603504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13" name="Image 1" descr="/home/claude/aegisgate/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0060" y="2569464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07412" y="308152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Buffer</a:t>
            </a:r>
            <a:endParaRPr lang="en-US" sz="1080" dirty="0"/>
          </a:p>
        </p:txBody>
      </p:sp>
      <p:sp>
        <p:nvSpPr>
          <p:cNvPr id="15" name="Text 11"/>
          <p:cNvSpPr/>
          <p:nvPr/>
        </p:nvSpPr>
        <p:spPr>
          <a:xfrm>
            <a:off x="2625700" y="356616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safely in memory if the broker is briefly unavailable.</a:t>
            </a:r>
            <a:endParaRPr lang="en-US" sz="870" dirty="0"/>
          </a:p>
        </p:txBody>
      </p:sp>
      <p:sp>
        <p:nvSpPr>
          <p:cNvPr id="16" name="Text 12"/>
          <p:cNvSpPr/>
          <p:nvPr/>
        </p:nvSpPr>
        <p:spPr>
          <a:xfrm>
            <a:off x="4198468" y="2148840"/>
            <a:ext cx="1554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335628" y="2148840"/>
            <a:ext cx="1700784" cy="2331720"/>
          </a:xfrm>
          <a:prstGeom prst="roundRect">
            <a:avLst>
              <a:gd name="adj" fmla="val 5376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84268" y="2414016"/>
            <a:ext cx="603504" cy="603504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19" name="Image 2" descr="/home/claude/aegisgate/icons/repe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716" y="2569464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427068" y="308152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 Broker</a:t>
            </a:r>
            <a:endParaRPr lang="en-US" sz="1080" dirty="0"/>
          </a:p>
        </p:txBody>
      </p:sp>
      <p:sp>
        <p:nvSpPr>
          <p:cNvPr id="21" name="Text 16"/>
          <p:cNvSpPr/>
          <p:nvPr/>
        </p:nvSpPr>
        <p:spPr>
          <a:xfrm>
            <a:off x="4445356" y="356616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the event over AMQP to the audit worker.</a:t>
            </a:r>
            <a:endParaRPr lang="en-US" sz="870" dirty="0"/>
          </a:p>
        </p:txBody>
      </p:sp>
      <p:sp>
        <p:nvSpPr>
          <p:cNvPr id="22" name="Text 17"/>
          <p:cNvSpPr/>
          <p:nvPr/>
        </p:nvSpPr>
        <p:spPr>
          <a:xfrm>
            <a:off x="6018124" y="2148840"/>
            <a:ext cx="1554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155284" y="2148840"/>
            <a:ext cx="1700784" cy="2331720"/>
          </a:xfrm>
          <a:prstGeom prst="roundRect">
            <a:avLst>
              <a:gd name="adj" fmla="val 5376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703924" y="2414016"/>
            <a:ext cx="603504" cy="603504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25" name="Image 3" descr="/home/claude/aegisgate/icons/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9372" y="2569464"/>
            <a:ext cx="292608" cy="29260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246724" y="308152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Worker</a:t>
            </a:r>
            <a:endParaRPr lang="en-US" sz="1080" dirty="0"/>
          </a:p>
        </p:txBody>
      </p:sp>
      <p:sp>
        <p:nvSpPr>
          <p:cNvPr id="27" name="Text 21"/>
          <p:cNvSpPr/>
          <p:nvPr/>
        </p:nvSpPr>
        <p:spPr>
          <a:xfrm>
            <a:off x="6265012" y="356616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events — 10 records or every 30 seconds.</a:t>
            </a:r>
            <a:endParaRPr lang="en-US" sz="870" dirty="0"/>
          </a:p>
        </p:txBody>
      </p:sp>
      <p:sp>
        <p:nvSpPr>
          <p:cNvPr id="28" name="Text 22"/>
          <p:cNvSpPr/>
          <p:nvPr/>
        </p:nvSpPr>
        <p:spPr>
          <a:xfrm>
            <a:off x="7837780" y="2148840"/>
            <a:ext cx="1554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974940" y="2148840"/>
            <a:ext cx="1700784" cy="2331720"/>
          </a:xfrm>
          <a:prstGeom prst="roundRect">
            <a:avLst>
              <a:gd name="adj" fmla="val 5376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523580" y="2414016"/>
            <a:ext cx="603504" cy="603504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31" name="Image 4" descr="/home/claude/aegisgate/icons/messagesqua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9028" y="2569464"/>
            <a:ext cx="292608" cy="29260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8066380" y="308152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LLM</a:t>
            </a:r>
            <a:endParaRPr lang="en-US" sz="1080" dirty="0"/>
          </a:p>
        </p:txBody>
      </p:sp>
      <p:sp>
        <p:nvSpPr>
          <p:cNvPr id="33" name="Text 26"/>
          <p:cNvSpPr/>
          <p:nvPr/>
        </p:nvSpPr>
        <p:spPr>
          <a:xfrm>
            <a:off x="8084668" y="356616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Categorizes attack vector, severity, and writes a summary.</a:t>
            </a:r>
            <a:endParaRPr lang="en-US" sz="870" dirty="0"/>
          </a:p>
        </p:txBody>
      </p:sp>
      <p:sp>
        <p:nvSpPr>
          <p:cNvPr id="34" name="Text 27"/>
          <p:cNvSpPr/>
          <p:nvPr/>
        </p:nvSpPr>
        <p:spPr>
          <a:xfrm>
            <a:off x="9657436" y="2148840"/>
            <a:ext cx="15544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9794596" y="2148840"/>
            <a:ext cx="1700784" cy="2331720"/>
          </a:xfrm>
          <a:prstGeom prst="roundRect">
            <a:avLst>
              <a:gd name="adj" fmla="val 5376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343236" y="2414016"/>
            <a:ext cx="603504" cy="603504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37" name="Image 5" descr="/home/claude/aegisgate/icons/data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98684" y="2569464"/>
            <a:ext cx="292608" cy="292608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886036" y="308152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080" dirty="0"/>
          </a:p>
        </p:txBody>
      </p:sp>
      <p:sp>
        <p:nvSpPr>
          <p:cNvPr id="39" name="Text 31"/>
          <p:cNvSpPr/>
          <p:nvPr/>
        </p:nvSpPr>
        <p:spPr>
          <a:xfrm>
            <a:off x="9904324" y="356616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Bulk-inserted for the dashboard to query.</a:t>
            </a:r>
            <a:endParaRPr lang="en-US" sz="870" dirty="0"/>
          </a:p>
        </p:txBody>
      </p:sp>
      <p:sp>
        <p:nvSpPr>
          <p:cNvPr id="40" name="Shape 32"/>
          <p:cNvSpPr/>
          <p:nvPr/>
        </p:nvSpPr>
        <p:spPr>
          <a:xfrm>
            <a:off x="1554480" y="5029200"/>
            <a:ext cx="365760" cy="365760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41" name="Image 6" descr="/home/claude/aegisgate/icons/checkcirc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55064" y="5129784"/>
            <a:ext cx="164592" cy="164592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2029968" y="4892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broker:  </a:t>
            </a: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RabbitMQ drops, events queue in memory and drain automatically once it reconnects.</a:t>
            </a:r>
            <a:endParaRPr lang="en-US" sz="1050" dirty="0"/>
          </a:p>
        </p:txBody>
      </p:sp>
      <p:sp>
        <p:nvSpPr>
          <p:cNvPr id="43" name="Shape 34"/>
          <p:cNvSpPr/>
          <p:nvPr/>
        </p:nvSpPr>
        <p:spPr>
          <a:xfrm>
            <a:off x="6629400" y="5029200"/>
            <a:ext cx="365760" cy="365760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44" name="Image 7" descr="/home/claude/aegisgate/icons/checkcirc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9984" y="5129784"/>
            <a:ext cx="164592" cy="164592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104888" y="4892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path fails open:  </a:t>
            </a: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Timeouts on the DB or LLM release events back to the queue — nothing is lost.</a:t>
            </a:r>
            <a:endParaRPr lang="en-US" sz="1050" dirty="0"/>
          </a:p>
        </p:txBody>
      </p:sp>
      <p:sp>
        <p:nvSpPr>
          <p:cNvPr id="100" name="Matrix Label"/>
          <p:cNvSpPr/>
          <p:nvPr/>
        </p:nvSpPr>
        <p:spPr>
          <a:xfrm>
            <a:off x="548640" y="5578920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POLICY IS COMPONENT-SPECIFIC, NOT BLANKET</a:t>
            </a:r>
            <a:endParaRPr lang="en-US" sz="1000" dirty="0"/>
          </a:p>
        </p:txBody>
      </p:sp>
      <p:sp>
        <p:nvSpPr>
          <p:cNvPr id="101" name="Matrix Col1 Title"/>
          <p:cNvSpPr/>
          <p:nvPr/>
        </p:nvSpPr>
        <p:spPr>
          <a:xfrm>
            <a:off x="548640" y="5852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Limiter</a:t>
            </a:r>
            <a:endParaRPr lang="en-US" sz="1150" dirty="0"/>
          </a:p>
        </p:txBody>
      </p:sp>
      <p:sp>
        <p:nvSpPr>
          <p:cNvPr id="102" name="Matrix Col1 Desc"/>
          <p:cNvSpPr/>
          <p:nvPr/>
        </p:nvSpPr>
        <p:spPr>
          <a:xfrm>
            <a:off x="548640" y="614172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Fail-Open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Redis down, traffic keeps flowing.</a:t>
            </a:r>
            <a:endParaRPr lang="en-US" sz="950" dirty="0"/>
          </a:p>
        </p:txBody>
      </p:sp>
      <p:sp>
        <p:nvSpPr>
          <p:cNvPr id="103" name="Matrix Col2 Title"/>
          <p:cNvSpPr/>
          <p:nvPr/>
        </p:nvSpPr>
        <p:spPr>
          <a:xfrm>
            <a:off x="4335628" y="5852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JWT Gate</a:t>
            </a:r>
            <a:endParaRPr lang="en-US" sz="1150" dirty="0"/>
          </a:p>
        </p:txBody>
      </p:sp>
      <p:sp>
        <p:nvSpPr>
          <p:cNvPr id="104" name="Matrix Col2 Desc"/>
          <p:cNvSpPr/>
          <p:nvPr/>
        </p:nvSpPr>
        <p:spPr>
          <a:xfrm>
            <a:off x="4335628" y="614172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DB down, rejects with HTTP 500.</a:t>
            </a:r>
            <a:endParaRPr lang="en-US" sz="950" dirty="0"/>
          </a:p>
        </p:txBody>
      </p:sp>
      <p:sp>
        <p:nvSpPr>
          <p:cNvPr id="105" name="Matrix Col3 Title"/>
          <p:cNvSpPr/>
          <p:nvPr/>
        </p:nvSpPr>
        <p:spPr>
          <a:xfrm>
            <a:off x="8130388" y="5852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Anomaly Engine</a:t>
            </a:r>
            <a:endParaRPr lang="en-US" sz="1150" dirty="0"/>
          </a:p>
        </p:txBody>
      </p:sp>
      <p:sp>
        <p:nvSpPr>
          <p:cNvPr id="106" name="Matrix Col3 Desc"/>
          <p:cNvSpPr/>
          <p:nvPr/>
        </p:nvSpPr>
        <p:spPr>
          <a:xfrm>
            <a:off x="8130388" y="614172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Fail-Open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logs a warning header, forwards traffic.</a:t>
            </a:r>
            <a:endParaRPr lang="en-US" sz="950" dirty="0"/>
          </a:p>
        </p:txBody>
      </p:sp>
      <p:sp>
        <p:nvSpPr>
          <p:cNvPr id="46" name="Text 36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47" name="Text 37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—  Control Plane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Capabilities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8300" y="169164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7756" y="1865376"/>
            <a:ext cx="566928" cy="566928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" name="Image 0" descr="/home/claude/aegisgate/icons/ac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60" y="20116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6980" y="187452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O(1) Rate Limiter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2620" y="253288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atomic counter prevents DDoS and brute-force attempts with sub-4ms block latency.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26484" y="169164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45940" y="1865376"/>
            <a:ext cx="566928" cy="566928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11" name="Image 1" descr="/home/claude/aegisgate/icons/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244" y="20116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5164" y="187452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 Validation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600804" y="253288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Cryptographically verifies tokens and access scopes before proxying.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084668" y="169164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04124" y="1865376"/>
            <a:ext cx="566928" cy="566928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16" name="Image 2" descr="/home/claude/aegisgate/icons/cp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0428" y="20116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53348" y="187452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Detection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358988" y="253288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embedded Isolation Forest model flags structural anomalies in under 2ms.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568300" y="3776472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87756" y="3950208"/>
            <a:ext cx="566928" cy="566928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21" name="Image 3" descr="/home/claude/aegisgate/icons/repe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060" y="409651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36980" y="3959352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Event Pipeline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42620" y="4617720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Offloads flagged payloads to RabbitMQ with zero impact on live latency.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4326484" y="3776472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45940" y="3950208"/>
            <a:ext cx="566928" cy="566928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26" name="Image 4" descr="/home/claude/aegisgate/icons/messagesqua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244" y="409651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5164" y="3959352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Threat Categorization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600804" y="4617720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LLM labels attack vectors and severity, and writes plain-English summaries.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8084668" y="3776472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04124" y="3950208"/>
            <a:ext cx="566928" cy="566928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31" name="Image 5" descr="/home/claude/aegisgate/icons/bar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0428" y="4096512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53348" y="3959352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Analytics Dashboard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8358988" y="4617720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multi-tenant telemetry with searchable AI threat reports.</a:t>
            </a:r>
            <a:endParaRPr lang="en-US" sz="1080" dirty="0"/>
          </a:p>
        </p:txBody>
      </p:sp>
      <p:sp>
        <p:nvSpPr>
          <p:cNvPr id="500" name="Shape NewCap"/>
          <p:cNvSpPr/>
          <p:nvPr/>
        </p:nvSpPr>
        <p:spPr>
          <a:xfrm>
            <a:off x="568300" y="5695272"/>
            <a:ext cx="11055096" cy="733544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501" name="Shape NewCapCircle"/>
          <p:cNvSpPr/>
          <p:nvPr/>
        </p:nvSpPr>
        <p:spPr>
          <a:xfrm>
            <a:off x="695072" y="5822044"/>
            <a:ext cx="480000" cy="48000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502" name="Image NewCap" descr="/home/claude/aegisgate/icons/databas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5072" y="5942044"/>
            <a:ext cx="240000" cy="240000"/>
          </a:xfrm>
          <a:prstGeom prst="rect">
            <a:avLst/>
          </a:prstGeom>
        </p:spPr>
      </p:pic>
      <p:sp>
        <p:nvSpPr>
          <p:cNvPr id="503" name="Text NewCap"/>
          <p:cNvSpPr/>
          <p:nvPr/>
        </p:nvSpPr>
        <p:spPr>
          <a:xfrm>
            <a:off x="1325072" y="5695272"/>
            <a:ext cx="10171552" cy="73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Zero-DB Hot-Path Caching:  </a:t>
            </a: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300s TTL Redis metadata caching ensures routing and authentication execute entirely in-memory.</a:t>
            </a:r>
            <a:endParaRPr lang="en-US" sz="1080" dirty="0"/>
          </a:p>
        </p:txBody>
      </p:sp>
      <p:sp>
        <p:nvSpPr>
          <p:cNvPr id="34" name="Text 26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—  Capabilities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Services, One Mesh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3728" y="173736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7192" y="1975104"/>
            <a:ext cx="713232" cy="713232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" name="Image 0" descr="/home/claude/aegisgate/icon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072" y="215798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06728" y="19568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gateway-core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706728" y="2359152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22D3EE">
              <a:alpha val="16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1706728" y="23591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 / TypeScript · :8080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83768" y="285292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Zero-DB hot-path ingress gateway: Redis 300s metadata caching, atomic O(1) rate limiting, TCP socket pooling, and non-blocking async telemetry.</a:t>
            </a:r>
            <a:endParaRPr lang="en-US" sz="113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16472" y="1975104"/>
            <a:ext cx="713232" cy="713232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13" name="Image 1" descr="/home/claude/aegisgate/icons/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352" y="215798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76008" y="19568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ai-anomaly-engine</a:t>
            </a:r>
            <a:endParaRPr lang="en-US" sz="1650" dirty="0"/>
          </a:p>
        </p:txBody>
      </p:sp>
      <p:sp>
        <p:nvSpPr>
          <p:cNvPr id="15" name="Shape 11"/>
          <p:cNvSpPr/>
          <p:nvPr/>
        </p:nvSpPr>
        <p:spPr>
          <a:xfrm>
            <a:off x="7376008" y="2359152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8B5CF6">
              <a:alpha val="16000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7376008" y="23591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/ FastAPI · :8000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553048" y="285292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Isolation Forest model that scores request structure for anomalies.</a:t>
            </a:r>
            <a:endParaRPr lang="en-US" sz="1130" dirty="0"/>
          </a:p>
        </p:txBody>
      </p:sp>
      <p:sp>
        <p:nvSpPr>
          <p:cNvPr id="18" name="Shape 14"/>
          <p:cNvSpPr/>
          <p:nvPr/>
        </p:nvSpPr>
        <p:spPr>
          <a:xfrm>
            <a:off x="563728" y="397764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7192" y="4215384"/>
            <a:ext cx="713232" cy="713232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20" name="Image 2" descr="/home/claude/aegisgate/icons/repe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072" y="4398264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706728" y="41970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async-audit-worker</a:t>
            </a:r>
            <a:endParaRPr lang="en-US" sz="1650" dirty="0"/>
          </a:p>
        </p:txBody>
      </p:sp>
      <p:sp>
        <p:nvSpPr>
          <p:cNvPr id="22" name="Shape 17"/>
          <p:cNvSpPr/>
          <p:nvPr/>
        </p:nvSpPr>
        <p:spPr>
          <a:xfrm>
            <a:off x="1706728" y="4599432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F59E0B">
              <a:alpha val="16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1706728" y="45994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Node.js / TypeScript · Daemon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883768" y="509320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flagged events, batches them, and calls Gemini for threat categorization.</a:t>
            </a:r>
            <a:endParaRPr lang="en-US" sz="1130" dirty="0"/>
          </a:p>
        </p:txBody>
      </p:sp>
      <p:sp>
        <p:nvSpPr>
          <p:cNvPr id="25" name="Shape 20"/>
          <p:cNvSpPr/>
          <p:nvPr/>
        </p:nvSpPr>
        <p:spPr>
          <a:xfrm>
            <a:off x="6233008" y="397764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516472" y="4215384"/>
            <a:ext cx="713232" cy="713232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27" name="Image 3" descr="/home/claude/aegisgate/icons/moni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352" y="4398264"/>
            <a:ext cx="347472" cy="34747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376008" y="41970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admin-dashboard</a:t>
            </a:r>
            <a:endParaRPr lang="en-US" sz="1650" dirty="0"/>
          </a:p>
        </p:txBody>
      </p:sp>
      <p:sp>
        <p:nvSpPr>
          <p:cNvPr id="29" name="Shape 23"/>
          <p:cNvSpPr/>
          <p:nvPr/>
        </p:nvSpPr>
        <p:spPr>
          <a:xfrm>
            <a:off x="7376008" y="4599432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34D399">
              <a:alpha val="16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7376008" y="45994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/ Vite / TypeScript</a:t>
            </a:r>
            <a:endParaRPr lang="en-US" sz="950" dirty="0"/>
          </a:p>
        </p:txBody>
      </p:sp>
      <p:sp>
        <p:nvSpPr>
          <p:cNvPr id="31" name="Text 25"/>
          <p:cNvSpPr/>
          <p:nvPr/>
        </p:nvSpPr>
        <p:spPr>
          <a:xfrm>
            <a:off x="6553048" y="509320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terminal: live telemetry, blocked-IP metrics, and searchable threat reports.</a:t>
            </a:r>
            <a:endParaRPr lang="en-US" sz="1130" dirty="0"/>
          </a:p>
        </p:txBody>
      </p:sp>
      <p:sp>
        <p:nvSpPr>
          <p:cNvPr id="32" name="Text 26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Services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Engineered for Reliability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0868" y="187452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12468" y="2171700"/>
            <a:ext cx="777240" cy="777240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6" name="Image 0" descr="/home/claude/aegisgate/icons/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3636" y="2372868"/>
            <a:ext cx="374904" cy="374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23748" y="31089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</a:rPr>
              <a:t>Fast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23748" y="3749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906628" y="416052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32ms Average Latency:  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across 110-iteration concurrent load tests, with &lt;3ms raw gateway overhead and 3ms edge-blocking speed (429/403).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35628" y="187452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7228" y="2171700"/>
            <a:ext cx="777240" cy="777240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12" name="Image 1" descr="/home/claude/aegisgate/icons/check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8396" y="2372868"/>
            <a:ext cx="374904" cy="3749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508" y="31089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Selective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4518508" y="3749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701388" y="416052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Feature-specific by design: rate limiting and the AI engine fail open to preserve uptime; auth fails closed, rejecting requests if the database is down.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30388" y="187452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501988" y="2171700"/>
            <a:ext cx="777240" cy="77724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18" name="Image 2" descr="/home/claude/aegisgate/icons/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3156" y="2372868"/>
            <a:ext cx="374904" cy="3749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13268" y="31089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8313268" y="3749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8496148" y="416052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environment is fully containerized with Docker Compose for instant, reproducible local setup.</a:t>
            </a:r>
            <a:endParaRPr lang="en-US" sz="1100" dirty="0"/>
          </a:p>
        </p:txBody>
      </p:sp>
      <p:sp>
        <p:nvSpPr>
          <p:cNvPr id="200" name="Shape SecHygiene"/>
          <p:cNvSpPr/>
          <p:nvPr/>
        </p:nvSpPr>
        <p:spPr>
          <a:xfrm>
            <a:off x="3082880" y="5750000"/>
            <a:ext cx="365760" cy="36576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201" name="Image SecHygiene" descr="/home/claude/aegisgate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3464" y="5850584"/>
            <a:ext cx="164592" cy="164592"/>
          </a:xfrm>
          <a:prstGeom prst="rect">
            <a:avLst/>
          </a:prstGeom>
        </p:spPr>
      </p:pic>
      <p:sp>
        <p:nvSpPr>
          <p:cNvPr id="202" name="Text SecHygiene"/>
          <p:cNvSpPr/>
          <p:nvPr/>
        </p:nvSpPr>
        <p:spPr>
          <a:xfrm>
            <a:off x="3578640" y="5613400"/>
            <a:ext cx="55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Edge Authentication:  </a:t>
            </a: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Cryptographically verified JWT tokens and RBAC claims evaluated at the edge boundary; administrative session state persisted cleanly via React context.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—  Reliability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4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— INTEGRATION</a:t>
            </a:r>
            <a:endParaRPr lang="en-US" sz="1250" dirty="0"/>
          </a:p>
        </p:txBody>
      </p:sp>
      <p:sp>
        <p:nvSpPr>
          <p:cNvPr id="5" name="Text 5"/>
          <p:cNvSpPr/>
          <p:nvPr/>
        </p:nvSpPr>
        <p:spPr>
          <a:xfrm>
            <a:off x="548640" y="740000"/>
            <a:ext cx="11064240" cy="5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— </a:t>
            </a: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Zero-DevOps Drop-In Integration</a:t>
            </a:r>
            <a:endParaRPr lang="en-US" sz="2600" dirty="0"/>
          </a:p>
        </p:txBody>
      </p:sp>
      <p:sp>
        <p:nvSpPr>
          <p:cNvPr id="7" name="Text 6"/>
          <p:cNvSpPr/>
          <p:nvPr/>
        </p:nvSpPr>
        <p:spPr>
          <a:xfrm>
            <a:off x="548640" y="1320000"/>
            <a:ext cx="11064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any microservice in under 2 minutes without altering backend source code or managing complex gateway servers.</a:t>
            </a:r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548640" y="2150000"/>
            <a:ext cx="5349240" cy="520000"/>
          </a:xfrm>
          <a:prstGeom prst="roundRect">
            <a:avLst>
              <a:gd name="adj" fmla="val 14545"/>
            </a:avLst>
          </a:prstGeom>
          <a:solidFill>
            <a:srgbClr val="22D3EE">
              <a:alpha val="16000"/>
            </a:srgbClr>
          </a:solidFill>
          <a:ln/>
        </p:spPr>
      </p:sp>
      <p:sp>
        <p:nvSpPr>
          <p:cNvPr id="10" name="Text 9"/>
          <p:cNvSpPr/>
          <p:nvPr/>
        </p:nvSpPr>
        <p:spPr>
          <a:xfrm>
            <a:off x="548640" y="2150000"/>
            <a:ext cx="534924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Cloud Shield (Zero Server Config)</a:t>
            </a:r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548640" y="2930000"/>
            <a:ext cx="420000" cy="420000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3" name="Text 12"/>
          <p:cNvSpPr/>
          <p:nvPr/>
        </p:nvSpPr>
        <p:spPr>
          <a:xfrm>
            <a:off x="548640" y="2930000"/>
            <a:ext cx="4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15" name="Text 14"/>
          <p:cNvSpPr/>
          <p:nvPr/>
        </p:nvSpPr>
        <p:spPr>
          <a:xfrm>
            <a:off x="1078992" y="2906000"/>
            <a:ext cx="475488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&amp; Grab Your Key</a:t>
            </a:r>
            <a:endParaRPr lang="en-US" dirty="0"/>
          </a:p>
        </p:txBody>
      </p:sp>
      <p:sp>
        <p:nvSpPr>
          <p:cNvPr id="17" name="Text 16"/>
          <p:cNvSpPr/>
          <p:nvPr/>
        </p:nvSpPr>
        <p:spPr>
          <a:xfrm>
            <a:off x="1078992" y="3330000"/>
            <a:ext cx="47548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on the AegisGate Dashboard &amp; copy your ag_live_ API key.</a:t>
            </a:r>
            <a:endParaRPr lang="en-US" dirty="0"/>
          </a:p>
        </p:txBody>
      </p:sp>
      <p:sp>
        <p:nvSpPr>
          <p:cNvPr id="18" name="Shape 18"/>
          <p:cNvSpPr/>
          <p:nvPr/>
        </p:nvSpPr>
        <p:spPr>
          <a:xfrm>
            <a:off x="548640" y="3910000"/>
            <a:ext cx="420000" cy="420000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20" name="Text 19"/>
          <p:cNvSpPr/>
          <p:nvPr/>
        </p:nvSpPr>
        <p:spPr>
          <a:xfrm>
            <a:off x="548640" y="3910000"/>
            <a:ext cx="4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22" name="Text 21"/>
          <p:cNvSpPr/>
          <p:nvPr/>
        </p:nvSpPr>
        <p:spPr>
          <a:xfrm>
            <a:off x="1078992" y="3886000"/>
            <a:ext cx="475488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at Your Backend</a:t>
            </a:r>
            <a:endParaRPr lang="en-US" dirty="0"/>
          </a:p>
        </p:txBody>
      </p:sp>
      <p:sp>
        <p:nvSpPr>
          <p:cNvPr id="24" name="Text 23"/>
          <p:cNvSpPr/>
          <p:nvPr/>
        </p:nvSpPr>
        <p:spPr>
          <a:xfrm>
            <a:off x="1078992" y="4310000"/>
            <a:ext cx="47548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target backend origin URL (e.g., http://api.smartbill.live).</a:t>
            </a:r>
            <a:endParaRPr lang="en-US" dirty="0"/>
          </a:p>
        </p:txBody>
      </p:sp>
      <p:sp>
        <p:nvSpPr>
          <p:cNvPr id="25" name="Shape 25"/>
          <p:cNvSpPr/>
          <p:nvPr/>
        </p:nvSpPr>
        <p:spPr>
          <a:xfrm>
            <a:off x="548640" y="4890000"/>
            <a:ext cx="420000" cy="420000"/>
          </a:xfrm>
          <a:prstGeom prst="ellipse">
            <a:avLst/>
          </a:prstGeom>
          <a:solidFill>
            <a:srgbClr val="1B2540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27" name="Text 26"/>
          <p:cNvSpPr/>
          <p:nvPr/>
        </p:nvSpPr>
        <p:spPr>
          <a:xfrm>
            <a:off x="548640" y="4890000"/>
            <a:ext cx="4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29" name="Text 28"/>
          <p:cNvSpPr/>
          <p:nvPr/>
        </p:nvSpPr>
        <p:spPr>
          <a:xfrm>
            <a:off x="1078992" y="4866000"/>
            <a:ext cx="475488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Frontend Requests</a:t>
            </a:r>
            <a:endParaRPr lang="en-US" dirty="0"/>
          </a:p>
        </p:txBody>
      </p:sp>
      <p:sp>
        <p:nvSpPr>
          <p:cNvPr id="31" name="Text 30"/>
          <p:cNvSpPr/>
          <p:nvPr/>
        </p:nvSpPr>
        <p:spPr>
          <a:xfrm>
            <a:off x="1078992" y="5290000"/>
            <a:ext cx="47548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x-aegis-api-key header in your frontend fetch calls — zero backend code changes required.</a:t>
            </a:r>
            <a:endParaRPr lang="en-US" dirty="0"/>
          </a:p>
        </p:txBody>
      </p:sp>
      <p:sp>
        <p:nvSpPr>
          <p:cNvPr id="32" name="Shape 32"/>
          <p:cNvSpPr/>
          <p:nvPr/>
        </p:nvSpPr>
        <p:spPr>
          <a:xfrm>
            <a:off x="6291072" y="2150000"/>
            <a:ext cx="5349240" cy="520000"/>
          </a:xfrm>
          <a:prstGeom prst="roundRect">
            <a:avLst>
              <a:gd name="adj" fmla="val 14545"/>
            </a:avLst>
          </a:prstGeom>
          <a:solidFill>
            <a:srgbClr val="F59E0B">
              <a:alpha val="16000"/>
            </a:srgbClr>
          </a:solidFill>
          <a:ln/>
        </p:spPr>
      </p:sp>
      <p:sp>
        <p:nvSpPr>
          <p:cNvPr id="34" name="Text 33"/>
          <p:cNvSpPr/>
          <p:nvPr/>
        </p:nvSpPr>
        <p:spPr>
          <a:xfrm>
            <a:off x="6291072" y="2150000"/>
            <a:ext cx="534924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1-Command Local Container Mesh</a:t>
            </a:r>
            <a:endParaRPr lang="en-US" dirty="0"/>
          </a:p>
        </p:txBody>
      </p:sp>
      <p:sp>
        <p:nvSpPr>
          <p:cNvPr id="35" name="Shape 35"/>
          <p:cNvSpPr/>
          <p:nvPr/>
        </p:nvSpPr>
        <p:spPr>
          <a:xfrm>
            <a:off x="6291072" y="2930000"/>
            <a:ext cx="420000" cy="420000"/>
          </a:xfrm>
          <a:prstGeom prst="ellipse">
            <a:avLst/>
          </a:prstGeom>
          <a:solidFill>
            <a:srgbClr val="1B25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37" name="Text 36"/>
          <p:cNvSpPr/>
          <p:nvPr/>
        </p:nvSpPr>
        <p:spPr>
          <a:xfrm>
            <a:off x="6291072" y="2930000"/>
            <a:ext cx="4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39" name="Text 38"/>
          <p:cNvSpPr/>
          <p:nvPr/>
        </p:nvSpPr>
        <p:spPr>
          <a:xfrm>
            <a:off x="6821424" y="2906000"/>
            <a:ext cx="475488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It Into Compose</a:t>
            </a:r>
            <a:endParaRPr lang="en-US" dirty="0"/>
          </a:p>
        </p:txBody>
      </p:sp>
      <p:sp>
        <p:nvSpPr>
          <p:cNvPr id="41" name="Text 40"/>
          <p:cNvSpPr/>
          <p:nvPr/>
        </p:nvSpPr>
        <p:spPr>
          <a:xfrm>
            <a:off x="6821424" y="3330000"/>
            <a:ext cx="47548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aegis-gateway into your existing docker-compose.yml on an isolated bridge network.</a:t>
            </a:r>
            <a:endParaRPr lang="en-US" dirty="0"/>
          </a:p>
        </p:txBody>
      </p:sp>
      <p:sp>
        <p:nvSpPr>
          <p:cNvPr id="42" name="Shape 42"/>
          <p:cNvSpPr/>
          <p:nvPr/>
        </p:nvSpPr>
        <p:spPr>
          <a:xfrm>
            <a:off x="6291072" y="3910000"/>
            <a:ext cx="420000" cy="420000"/>
          </a:xfrm>
          <a:prstGeom prst="ellipse">
            <a:avLst/>
          </a:prstGeom>
          <a:solidFill>
            <a:srgbClr val="1B25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44" name="Text 43"/>
          <p:cNvSpPr/>
          <p:nvPr/>
        </p:nvSpPr>
        <p:spPr>
          <a:xfrm>
            <a:off x="6291072" y="3910000"/>
            <a:ext cx="4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46" name="Text 45"/>
          <p:cNvSpPr/>
          <p:nvPr/>
        </p:nvSpPr>
        <p:spPr>
          <a:xfrm>
            <a:off x="6821424" y="3886000"/>
            <a:ext cx="475488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the Mesh</a:t>
            </a:r>
            <a:endParaRPr lang="en-US" dirty="0"/>
          </a:p>
        </p:txBody>
      </p:sp>
      <p:sp>
        <p:nvSpPr>
          <p:cNvPr id="48" name="Text 47"/>
          <p:cNvSpPr/>
          <p:nvPr/>
        </p:nvSpPr>
        <p:spPr>
          <a:xfrm>
            <a:off x="6821424" y="4310000"/>
            <a:ext cx="47548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docker compose up -d to boot proxy, ML anomaly engine, Redis, and RabbitMQ in a single command.</a:t>
            </a:r>
            <a:endParaRPr lang="en-US" dirty="0"/>
          </a:p>
        </p:txBody>
      </p:sp>
      <p:sp>
        <p:nvSpPr>
          <p:cNvPr id="49" name="Shape 49"/>
          <p:cNvSpPr/>
          <p:nvPr/>
        </p:nvSpPr>
        <p:spPr>
          <a:xfrm>
            <a:off x="6291072" y="4890000"/>
            <a:ext cx="420000" cy="420000"/>
          </a:xfrm>
          <a:prstGeom prst="ellipse">
            <a:avLst/>
          </a:prstGeom>
          <a:solidFill>
            <a:srgbClr val="1B25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51" name="Text 50"/>
          <p:cNvSpPr/>
          <p:nvPr/>
        </p:nvSpPr>
        <p:spPr>
          <a:xfrm>
            <a:off x="6291072" y="4890000"/>
            <a:ext cx="4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53" name="Text 52"/>
          <p:cNvSpPr/>
          <p:nvPr/>
        </p:nvSpPr>
        <p:spPr>
          <a:xfrm>
            <a:off x="6821424" y="4866000"/>
            <a:ext cx="475488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Live</a:t>
            </a:r>
            <a:endParaRPr lang="en-US" dirty="0"/>
          </a:p>
        </p:txBody>
      </p:sp>
      <p:sp>
        <p:nvSpPr>
          <p:cNvPr id="55" name="Text 54"/>
          <p:cNvSpPr/>
          <p:nvPr/>
        </p:nvSpPr>
        <p:spPr>
          <a:xfrm>
            <a:off x="6821424" y="5290000"/>
            <a:ext cx="47548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target backends dynamically from the Admin Dashboard without restarting containers.</a:t>
            </a:r>
            <a:endParaRPr lang="en-US" dirty="0"/>
          </a:p>
        </p:txBody>
      </p:sp>
      <p:sp>
        <p:nvSpPr>
          <p:cNvPr id="56" name="Text 56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57" name="Text 57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—  Integration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32038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 &amp; Production Roadmap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trade-offs today, and the concrete engineering work planned to close each one:</a:t>
            </a:r>
            <a:endParaRPr lang="en-US" sz="1350" dirty="0"/>
          </a:p>
        </p:txBody>
      </p:sp>
      <p:sp>
        <p:nvSpPr>
          <p:cNvPr id="300" name="Shape RM300"/>
          <p:cNvSpPr/>
          <p:nvPr/>
        </p:nvSpPr>
        <p:spPr>
          <a:xfrm>
            <a:off x="568300" y="205740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01" name="Shape RM301"/>
          <p:cNvSpPr/>
          <p:nvPr/>
        </p:nvSpPr>
        <p:spPr>
          <a:xfrm>
            <a:off x="787756" y="2231136"/>
            <a:ext cx="566928" cy="566928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302" name="Image RM302" descr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60" y="2377440"/>
            <a:ext cx="274320" cy="274320"/>
          </a:xfrm>
          <a:prstGeom prst="rect">
            <a:avLst/>
          </a:prstGeom>
        </p:spPr>
      </p:pic>
      <p:sp>
        <p:nvSpPr>
          <p:cNvPr id="303" name="Text RM303"/>
          <p:cNvSpPr/>
          <p:nvPr/>
        </p:nvSpPr>
        <p:spPr>
          <a:xfrm>
            <a:off x="1436980" y="224028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Dead-Letter Exchange (DLX)</a:t>
            </a:r>
            <a:endParaRPr lang="en-US" sz="1300" dirty="0"/>
          </a:p>
        </p:txBody>
      </p:sp>
      <p:sp>
        <p:nvSpPr>
          <p:cNvPr id="304" name="Text RM304"/>
          <p:cNvSpPr/>
          <p:nvPr/>
        </p:nvSpPr>
        <p:spPr>
          <a:xfrm>
            <a:off x="842620" y="289864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Fully Implemented — </a:t>
            </a: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 payloads route to aegis_dead_letter after 3 retries, with dashboard re-queue &amp; purge controls.</a:t>
            </a:r>
            <a:endParaRPr lang="en-US" sz="1080" dirty="0"/>
          </a:p>
        </p:txBody>
      </p:sp>
      <p:sp>
        <p:nvSpPr>
          <p:cNvPr id="305" name="Shape RM305"/>
          <p:cNvSpPr/>
          <p:nvPr/>
        </p:nvSpPr>
        <p:spPr>
          <a:xfrm>
            <a:off x="4326484" y="205740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06" name="Shape RM306"/>
          <p:cNvSpPr/>
          <p:nvPr/>
        </p:nvSpPr>
        <p:spPr>
          <a:xfrm>
            <a:off x="4545940" y="2231136"/>
            <a:ext cx="566928" cy="566928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307" name="Image RM307" descr="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244" y="2377440"/>
            <a:ext cx="274320" cy="274320"/>
          </a:xfrm>
          <a:prstGeom prst="rect">
            <a:avLst/>
          </a:prstGeom>
        </p:spPr>
      </p:pic>
      <p:sp>
        <p:nvSpPr>
          <p:cNvPr id="308" name="Text RM308"/>
          <p:cNvSpPr/>
          <p:nvPr/>
        </p:nvSpPr>
        <p:spPr>
          <a:xfrm>
            <a:off x="5195164" y="224028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WebAssembly / ONNX ML Scoring</a:t>
            </a:r>
            <a:endParaRPr lang="en-US" sz="1300" dirty="0"/>
          </a:p>
        </p:txBody>
      </p:sp>
      <p:sp>
        <p:nvSpPr>
          <p:cNvPr id="309" name="Text RM309"/>
          <p:cNvSpPr/>
          <p:nvPr/>
        </p:nvSpPr>
        <p:spPr>
          <a:xfrm>
            <a:off x="4600804" y="289864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Isolation Forest from an HTTP microservice into an in-process WASM/ONNX runtime for sub-ms, network-free inference.</a:t>
            </a:r>
            <a:endParaRPr lang="en-US" sz="1080" dirty="0"/>
          </a:p>
        </p:txBody>
      </p:sp>
      <p:sp>
        <p:nvSpPr>
          <p:cNvPr id="310" name="Shape RM310"/>
          <p:cNvSpPr/>
          <p:nvPr/>
        </p:nvSpPr>
        <p:spPr>
          <a:xfrm>
            <a:off x="8084668" y="2057400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11" name="Shape RM311"/>
          <p:cNvSpPr/>
          <p:nvPr/>
        </p:nvSpPr>
        <p:spPr>
          <a:xfrm>
            <a:off x="8304124" y="2231136"/>
            <a:ext cx="566928" cy="566928"/>
          </a:xfrm>
          <a:prstGeom prst="ellipse">
            <a:avLst/>
          </a:prstGeom>
          <a:solidFill>
            <a:srgbClr val="8B5CF6">
              <a:alpha val="16000"/>
            </a:srgbClr>
          </a:solidFill>
          <a:ln w="15875">
            <a:solidFill>
              <a:srgbClr val="8B5CF6"/>
            </a:solidFill>
            <a:prstDash val="solid"/>
          </a:ln>
        </p:spPr>
      </p:sp>
      <p:pic>
        <p:nvPicPr>
          <p:cNvPr id="312" name="Image RM312" descr="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0428" y="2377440"/>
            <a:ext cx="274320" cy="274320"/>
          </a:xfrm>
          <a:prstGeom prst="rect">
            <a:avLst/>
          </a:prstGeom>
        </p:spPr>
      </p:pic>
      <p:sp>
        <p:nvSpPr>
          <p:cNvPr id="313" name="Text RM313"/>
          <p:cNvSpPr/>
          <p:nvPr/>
        </p:nvSpPr>
        <p:spPr>
          <a:xfrm>
            <a:off x="8953348" y="224028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Cluster Sharding</a:t>
            </a:r>
            <a:endParaRPr lang="en-US" sz="1300" dirty="0"/>
          </a:p>
        </p:txBody>
      </p:sp>
      <p:sp>
        <p:nvSpPr>
          <p:cNvPr id="314" name="Text RM314"/>
          <p:cNvSpPr/>
          <p:nvPr/>
        </p:nvSpPr>
        <p:spPr>
          <a:xfrm>
            <a:off x="8358988" y="289864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Partitioning the aegis-cache Redis instance across a sharded cluster to remove the single-node bottleneck at scale.</a:t>
            </a:r>
            <a:endParaRPr lang="en-US" sz="1080" dirty="0"/>
          </a:p>
        </p:txBody>
      </p:sp>
      <p:sp>
        <p:nvSpPr>
          <p:cNvPr id="315" name="Shape RM315"/>
          <p:cNvSpPr/>
          <p:nvPr/>
        </p:nvSpPr>
        <p:spPr>
          <a:xfrm>
            <a:off x="2432304" y="4142232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16" name="Shape RM316"/>
          <p:cNvSpPr/>
          <p:nvPr/>
        </p:nvSpPr>
        <p:spPr>
          <a:xfrm>
            <a:off x="2651760" y="4315968"/>
            <a:ext cx="566928" cy="566928"/>
          </a:xfrm>
          <a:prstGeom prst="ellipse">
            <a:avLst/>
          </a:prstGeom>
          <a:solidFill>
            <a:srgbClr val="34D399">
              <a:alpha val="16000"/>
            </a:srgbClr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317" name="Image RM317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8064" y="4462272"/>
            <a:ext cx="274320" cy="274320"/>
          </a:xfrm>
          <a:prstGeom prst="rect">
            <a:avLst/>
          </a:prstGeom>
        </p:spPr>
      </p:pic>
      <p:sp>
        <p:nvSpPr>
          <p:cNvPr id="318" name="Text RM318"/>
          <p:cNvSpPr/>
          <p:nvPr/>
        </p:nvSpPr>
        <p:spPr>
          <a:xfrm>
            <a:off x="3300984" y="4325112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Redaction Engine</a:t>
            </a:r>
            <a:endParaRPr lang="en-US" sz="1300" dirty="0"/>
          </a:p>
        </p:txBody>
      </p:sp>
      <p:sp>
        <p:nvSpPr>
          <p:cNvPr id="319" name="Text RM319"/>
          <p:cNvSpPr/>
          <p:nvPr/>
        </p:nvSpPr>
        <p:spPr>
          <a:xfrm>
            <a:off x="2706624" y="4983480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Fully Implemented — </a:t>
            </a: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redaction scrubs password, credit_card, ssn &amp; email before payloads reach MongoDB or Gemini.</a:t>
            </a:r>
            <a:endParaRPr lang="en-US" sz="1080" dirty="0"/>
          </a:p>
        </p:txBody>
      </p:sp>
      <p:sp>
        <p:nvSpPr>
          <p:cNvPr id="320" name="Shape RM320"/>
          <p:cNvSpPr/>
          <p:nvPr/>
        </p:nvSpPr>
        <p:spPr>
          <a:xfrm>
            <a:off x="6190488" y="4142232"/>
            <a:ext cx="3538728" cy="1828800"/>
          </a:xfrm>
          <a:prstGeom prst="roundRect">
            <a:avLst>
              <a:gd name="adj" fmla="val 5000"/>
            </a:avLst>
          </a:prstGeom>
          <a:solidFill>
            <a:srgbClr val="141C30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321" name="Shape RM321"/>
          <p:cNvSpPr/>
          <p:nvPr/>
        </p:nvSpPr>
        <p:spPr>
          <a:xfrm>
            <a:off x="6409944" y="4315968"/>
            <a:ext cx="566928" cy="566928"/>
          </a:xfrm>
          <a:prstGeom prst="ellipse">
            <a:avLst/>
          </a:prstGeom>
          <a:solidFill>
            <a:srgbClr val="F59E0B">
              <a:alpha val="16000"/>
            </a:srgbClr>
          </a:solidFill>
          <a:ln w="15875">
            <a:solidFill>
              <a:srgbClr val="F59E0B"/>
            </a:solidFill>
            <a:prstDash val="solid"/>
          </a:ln>
        </p:spPr>
      </p:sp>
      <p:pic>
        <p:nvPicPr>
          <p:cNvPr id="322" name="Image RM322" descr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4462272"/>
            <a:ext cx="274320" cy="274320"/>
          </a:xfrm>
          <a:prstGeom prst="rect">
            <a:avLst/>
          </a:prstGeom>
        </p:spPr>
      </p:pic>
      <p:sp>
        <p:nvSpPr>
          <p:cNvPr id="323" name="Text RM323"/>
          <p:cNvSpPr/>
          <p:nvPr/>
        </p:nvSpPr>
        <p:spPr>
          <a:xfrm>
            <a:off x="7059168" y="4325112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Zero-Downtime Rule Hot-Reloading</a:t>
            </a:r>
            <a:endParaRPr lang="en-US" sz="1300" dirty="0"/>
          </a:p>
        </p:txBody>
      </p:sp>
      <p:sp>
        <p:nvSpPr>
          <p:cNvPr id="324" name="Text RM324"/>
          <p:cNvSpPr/>
          <p:nvPr/>
        </p:nvSpPr>
        <p:spPr>
          <a:xfrm>
            <a:off x="6464808" y="4983480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rule and rate-limit config for changes and hot-swapping them in-process, no restart required.</a:t>
            </a:r>
            <a:endParaRPr lang="en-US" sz="1080" dirty="0"/>
          </a:p>
        </p:txBody>
      </p:sp>
      <p:sp>
        <p:nvSpPr>
          <p:cNvPr id="22" name="Text 17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—  Roadmap &amp; Limitations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32038">
              <a:alpha val="55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1303020" y="2971350"/>
            <a:ext cx="1051560" cy="1051560"/>
          </a:xfrm>
          <a:prstGeom prst="ellipse">
            <a:avLst/>
          </a:prstGeom>
          <a:solidFill>
            <a:srgbClr val="22D3EE">
              <a:alpha val="16000"/>
            </a:srgbClr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18" name="Image 2" descr="/home/claude/aegisgate/icons/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052" y="3227382"/>
            <a:ext cx="539496" cy="5394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651760" y="299421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2651760" y="354285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contributions welcome — AegisGate is open source.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2651760" y="390861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Rohit Sirvi  ·  Project Lead  ·  Status: Live / Production Deployed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AegisGate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—  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1298</Words>
  <Application>Microsoft Office PowerPoint</Application>
  <PresentationFormat>Widescreen</PresentationFormat>
  <Paragraphs>215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Rohit Sirvi</cp:lastModifiedBy>
  <cp:revision>2</cp:revision>
  <dcterms:created xsi:type="dcterms:W3CDTF">2026-08-04T10:54:14Z</dcterms:created>
  <dcterms:modified xsi:type="dcterms:W3CDTF">2026-08-05T15:52:42Z</dcterms:modified>
</cp:coreProperties>
</file>