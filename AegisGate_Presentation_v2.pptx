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3656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3.png"/><Relationship Id="rId5" Type="http://schemas.openxmlformats.org/officeDocument/2006/relationships/image" Target="../media/image9.png"/><Relationship Id="rId10" Type="http://schemas.openxmlformats.org/officeDocument/2006/relationships/image" Target="../media/image12.png"/><Relationship Id="rId4" Type="http://schemas.openxmlformats.org/officeDocument/2006/relationships/image" Target="../media/image8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5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6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5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560320"/>
            <a:ext cx="5486400" cy="5486400"/>
          </a:xfrm>
          <a:prstGeom prst="ellipse">
            <a:avLst/>
          </a:prstGeom>
          <a:solidFill>
            <a:srgbClr val="132038">
              <a:alpha val="6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840480"/>
            <a:ext cx="5943600" cy="5943600"/>
          </a:xfrm>
          <a:prstGeom prst="ellipse">
            <a:avLst/>
          </a:prstGeom>
          <a:solidFill>
            <a:srgbClr val="1A1330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10048" y="1005840"/>
            <a:ext cx="1371600" cy="137160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5" name="Image 0" descr="/home/claude/aegisgate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944" y="1316736"/>
            <a:ext cx="749808" cy="7498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606040"/>
            <a:ext cx="103628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AegisGate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1371600" y="3520440"/>
            <a:ext cx="94484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Zero-Config API Gateway with Built-In AI Threat Detection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455268" y="43434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455268" y="4343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Proxy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832708" y="43434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32708" y="4343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10148" y="43434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0148" y="4343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RBAC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587588" y="434340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B254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87588" y="43434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Detection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914400" y="5989320"/>
            <a:ext cx="103628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 ·  Node.js / TypeScript  ·  Python  ·  Docker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914400" y="635508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Sirvi  ·  Project Lead  ·  Status: Live / Production Deployed (v1.0.0)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Shouldn’t Require a DevOps Team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gateways like Nginx or Kong can do the job — but only after complex configuration files and custom scripts. For fast-moving microservice teams, that’s time they don’t have.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11064240" cy="1033272"/>
          </a:xfrm>
          <a:prstGeom prst="roundRect">
            <a:avLst>
              <a:gd name="adj" fmla="val 885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" y="2610612"/>
            <a:ext cx="658368" cy="658368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7" name="Image 0" descr="/home/claude/aegisgate/icons/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2775204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57400" y="253288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Manual Configuration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057400" y="289864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security — rate limiting, auth, anomaly detection — needs intricate config files and hand-rolled scripts.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3657600"/>
            <a:ext cx="11064240" cy="1033272"/>
          </a:xfrm>
          <a:prstGeom prst="roundRect">
            <a:avLst>
              <a:gd name="adj" fmla="val 885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88136" y="3845052"/>
            <a:ext cx="658368" cy="658368"/>
          </a:xfrm>
          <a:prstGeom prst="ellipse">
            <a:avLst/>
          </a:prstGeom>
          <a:solidFill>
            <a:srgbClr val="F87171">
              <a:alpha val="16000"/>
            </a:srgbClr>
          </a:solidFill>
          <a:ln w="15875">
            <a:solidFill>
              <a:srgbClr val="F87171"/>
            </a:solidFill>
            <a:prstDash val="solid"/>
          </a:ln>
        </p:spPr>
      </p:sp>
      <p:pic>
        <p:nvPicPr>
          <p:cNvPr id="12" name="Image 1" descr="/home/claude/aegisgate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2728" y="4009644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057400" y="376732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Room for a Dedicated DevOps Team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2057400" y="413308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engineers must secure rapidly growing microservices without the staff to run enterprise gateway clusters.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892040"/>
            <a:ext cx="11064240" cy="1033272"/>
          </a:xfrm>
          <a:prstGeom prst="roundRect">
            <a:avLst>
              <a:gd name="adj" fmla="val 885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1088136" y="5079492"/>
            <a:ext cx="658368" cy="658368"/>
          </a:xfrm>
          <a:prstGeom prst="ellipse">
            <a:avLst/>
          </a:prstGeom>
          <a:solidFill>
            <a:srgbClr val="94A3B8">
              <a:alpha val="16000"/>
            </a:srgbClr>
          </a:solidFill>
          <a:ln w="15875">
            <a:solidFill>
              <a:srgbClr val="94A3B8"/>
            </a:solidFill>
            <a:prstDash val="solid"/>
          </a:ln>
        </p:spPr>
      </p:sp>
      <p:pic>
        <p:nvPicPr>
          <p:cNvPr id="17" name="Image 2" descr="/home/claude/aegisgate/icons/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2728" y="5244084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57400" y="5001768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Bolted On, Not Built In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2057400" y="5367528"/>
            <a:ext cx="9052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limiting, JWT validation, and threat detection are add-ons — not out-of-the-box, zero-config features.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The Problem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Gateway. Less Config. Full Coverage.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07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 is an open-source API gateway for microservices that ships with distributed rate limiting, JWT validation, and AI-powered anomaly detection — out of the box.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0868" y="246888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43888" y="2788920"/>
            <a:ext cx="914400" cy="914400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7" name="Image 0" descr="/home/claude/aegisgate/icons/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488" y="3017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9468" y="3886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0908" y="43434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Targeting sub-5ms total overhead on the live request path — formal k6 load benchmarking in progress.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35628" y="246888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38648" y="2788920"/>
            <a:ext cx="914400" cy="91440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2" name="Image 1" descr="/home/claude/aegisgate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7248" y="30175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64228" y="3886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by Default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4655668" y="43434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 validation and Redis-backed rate limiting are on from the first request, with no setup.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30388" y="246888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9433408" y="2788920"/>
            <a:ext cx="914400" cy="914400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17" name="Image 2" descr="/home/claude/aegisgate/icons/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62008" y="30175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8988" y="38862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</a:t>
            </a:r>
            <a:endParaRPr lang="en-US" sz="1900" dirty="0"/>
          </a:p>
        </p:txBody>
      </p:sp>
      <p:sp>
        <p:nvSpPr>
          <p:cNvPr id="19" name="Text 14"/>
          <p:cNvSpPr/>
          <p:nvPr/>
        </p:nvSpPr>
        <p:spPr>
          <a:xfrm>
            <a:off x="8450428" y="434340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embedded ML model screens every request in under 2ms; an LLM explains the threats it finds.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The Solution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Planes, One Gateway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 is secured in real time on the Data Plane. Anything suspicious is handed off to the Control Plane, which investigates in the background — without ever slowing down live traffic.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12848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111A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212848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22D3EE">
              <a:alpha val="18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1284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 · &lt;5ms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19072" y="2688336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04288" y="2788920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0" name="Image 0" descr="/home/claude/aegisgate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60" y="290779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773936" y="32918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Proxy</a:t>
            </a:r>
            <a:endParaRPr lang="en-US" sz="970" dirty="0"/>
          </a:p>
        </p:txBody>
      </p:sp>
      <p:sp>
        <p:nvSpPr>
          <p:cNvPr id="12" name="Text 9"/>
          <p:cNvSpPr/>
          <p:nvPr/>
        </p:nvSpPr>
        <p:spPr>
          <a:xfrm>
            <a:off x="3344786" y="2673176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493008" y="2688336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078224" y="2788920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5" name="Image 1" descr="/home/claude/aegisgate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7096" y="2907792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47872" y="32918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970" dirty="0"/>
          </a:p>
        </p:txBody>
      </p:sp>
      <p:sp>
        <p:nvSpPr>
          <p:cNvPr id="17" name="Text 13"/>
          <p:cNvSpPr/>
          <p:nvPr/>
        </p:nvSpPr>
        <p:spPr>
          <a:xfrm>
            <a:off x="5110057" y="2688336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266944" y="2688336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52160" y="2788920"/>
            <a:ext cx="457200" cy="45720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0" name="Image 2" descr="/home/claude/aegisgate/icons/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1032" y="2907792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21808" y="32918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</a:t>
            </a:r>
            <a:endParaRPr lang="en-US" sz="970" dirty="0"/>
          </a:p>
        </p:txBody>
      </p:sp>
      <p:sp>
        <p:nvSpPr>
          <p:cNvPr id="22" name="Text 17"/>
          <p:cNvSpPr/>
          <p:nvPr/>
        </p:nvSpPr>
        <p:spPr>
          <a:xfrm>
            <a:off x="6893295" y="2671572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7040880" y="2688336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626096" y="2788920"/>
            <a:ext cx="457200" cy="457200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5" name="Image 3" descr="/home/claude/aegisgate/icons/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4968" y="2907792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95744" y="32918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Firewall</a:t>
            </a:r>
            <a:endParaRPr lang="en-US" sz="970" dirty="0"/>
          </a:p>
        </p:txBody>
      </p:sp>
      <p:sp>
        <p:nvSpPr>
          <p:cNvPr id="27" name="Text 21"/>
          <p:cNvSpPr/>
          <p:nvPr/>
        </p:nvSpPr>
        <p:spPr>
          <a:xfrm>
            <a:off x="8650224" y="2671572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8814816" y="2688336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9400032" y="2788920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30" name="Image 4" descr="/home/claude/aegisgate/icons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18904" y="2907792"/>
            <a:ext cx="219456" cy="21945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869680" y="3291840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Upstream</a:t>
            </a:r>
            <a:endParaRPr lang="en-US" sz="970" dirty="0"/>
          </a:p>
        </p:txBody>
      </p:sp>
      <p:sp>
        <p:nvSpPr>
          <p:cNvPr id="32" name="Shape 25"/>
          <p:cNvSpPr/>
          <p:nvPr/>
        </p:nvSpPr>
        <p:spPr>
          <a:xfrm>
            <a:off x="548640" y="4160520"/>
            <a:ext cx="11064240" cy="1783080"/>
          </a:xfrm>
          <a:prstGeom prst="roundRect">
            <a:avLst>
              <a:gd name="adj" fmla="val 5128"/>
            </a:avLst>
          </a:prstGeom>
          <a:solidFill>
            <a:srgbClr val="111A2E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48640" y="4160520"/>
            <a:ext cx="2331720" cy="384048"/>
          </a:xfrm>
          <a:prstGeom prst="roundRect">
            <a:avLst>
              <a:gd name="adj" fmla="val 19048"/>
            </a:avLst>
          </a:prstGeom>
          <a:solidFill>
            <a:srgbClr val="F59E0B">
              <a:alpha val="1800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548640" y="41605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· ASYNC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1719072" y="463600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2304288" y="4736592"/>
            <a:ext cx="457200" cy="457200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37" name="Image 5" descr="/home/claude/aegisgate/icons/alerttriangl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23160" y="4855464"/>
            <a:ext cx="219456" cy="219456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1773936" y="52395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Event</a:t>
            </a:r>
            <a:endParaRPr lang="en-US" sz="970" dirty="0"/>
          </a:p>
        </p:txBody>
      </p:sp>
      <p:sp>
        <p:nvSpPr>
          <p:cNvPr id="39" name="Text 31"/>
          <p:cNvSpPr/>
          <p:nvPr/>
        </p:nvSpPr>
        <p:spPr>
          <a:xfrm>
            <a:off x="3344786" y="4633281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0" name="Shape 32"/>
          <p:cNvSpPr/>
          <p:nvPr/>
        </p:nvSpPr>
        <p:spPr>
          <a:xfrm>
            <a:off x="3493008" y="463600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4078224" y="4736592"/>
            <a:ext cx="457200" cy="457200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42" name="Image 6" descr="/home/claude/aegisgate/icons/repea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97096" y="4855464"/>
            <a:ext cx="219456" cy="219456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3547872" y="52395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970" dirty="0"/>
          </a:p>
        </p:txBody>
      </p:sp>
      <p:sp>
        <p:nvSpPr>
          <p:cNvPr id="44" name="Text 35"/>
          <p:cNvSpPr/>
          <p:nvPr/>
        </p:nvSpPr>
        <p:spPr>
          <a:xfrm>
            <a:off x="5110057" y="4636008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45" name="Shape 36"/>
          <p:cNvSpPr/>
          <p:nvPr/>
        </p:nvSpPr>
        <p:spPr>
          <a:xfrm>
            <a:off x="5266944" y="463600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5852160" y="4736592"/>
            <a:ext cx="457200" cy="457200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47" name="Image 7" descr="/home/claude/aegisgate/icons/ey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71032" y="4855464"/>
            <a:ext cx="219456" cy="219456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321808" y="52395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Worker</a:t>
            </a:r>
            <a:endParaRPr lang="en-US" sz="970" dirty="0"/>
          </a:p>
        </p:txBody>
      </p:sp>
      <p:sp>
        <p:nvSpPr>
          <p:cNvPr id="49" name="Text 39"/>
          <p:cNvSpPr/>
          <p:nvPr/>
        </p:nvSpPr>
        <p:spPr>
          <a:xfrm>
            <a:off x="6892012" y="4636008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Shape 40"/>
          <p:cNvSpPr/>
          <p:nvPr/>
        </p:nvSpPr>
        <p:spPr>
          <a:xfrm>
            <a:off x="7040880" y="463600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7626096" y="4736592"/>
            <a:ext cx="457200" cy="457200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52" name="Image 8" descr="/home/claude/aegisgate/icons/messagesquar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44968" y="4855464"/>
            <a:ext cx="219456" cy="219456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7095744" y="52395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</a:t>
            </a:r>
            <a:endParaRPr lang="en-US" sz="970" dirty="0"/>
          </a:p>
        </p:txBody>
      </p:sp>
      <p:sp>
        <p:nvSpPr>
          <p:cNvPr id="54" name="Text 43"/>
          <p:cNvSpPr/>
          <p:nvPr/>
        </p:nvSpPr>
        <p:spPr>
          <a:xfrm>
            <a:off x="8650224" y="4618442"/>
            <a:ext cx="16459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55" name="Shape 44"/>
          <p:cNvSpPr/>
          <p:nvPr/>
        </p:nvSpPr>
        <p:spPr>
          <a:xfrm>
            <a:off x="8814816" y="4636008"/>
            <a:ext cx="1627632" cy="1051560"/>
          </a:xfrm>
          <a:prstGeom prst="roundRect">
            <a:avLst>
              <a:gd name="adj" fmla="val 6957"/>
            </a:avLst>
          </a:prstGeom>
          <a:solidFill>
            <a:srgbClr val="1B2540"/>
          </a:solidFill>
          <a:ln w="15875">
            <a:solidFill>
              <a:srgbClr val="26314A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9400032" y="4736592"/>
            <a:ext cx="457200" cy="457200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57" name="Image 9" descr="/home/claude/aegisgate/icons/databas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18904" y="4855464"/>
            <a:ext cx="219456" cy="219456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8869680" y="5239512"/>
            <a:ext cx="15179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7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70" dirty="0"/>
          </a:p>
        </p:txBody>
      </p:sp>
      <p:sp>
        <p:nvSpPr>
          <p:cNvPr id="99" name="Text PII Note"/>
          <p:cNvSpPr/>
          <p:nvPr/>
        </p:nvSpPr>
        <p:spPr>
          <a:xfrm>
            <a:off x="731520" y="5730240"/>
            <a:ext cx="10698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Privacy: raw payloads are sanitized to strip PII before being sent to external LLMs like Gemini.</a:t>
            </a:r>
            <a:endParaRPr lang="en-US" sz="950" i="1" dirty="0"/>
          </a:p>
        </p:txBody>
      </p:sp>
      <p:sp>
        <p:nvSpPr>
          <p:cNvPr id="59" name="Text 47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Malicious traffic detected on the Data Plane is routed down to the Control Plane for deeper, LLM-driven analysis — asynchronously.</a:t>
            </a:r>
            <a:endParaRPr lang="en-US" sz="1100" dirty="0"/>
          </a:p>
        </p:txBody>
      </p:sp>
      <p:sp>
        <p:nvSpPr>
          <p:cNvPr id="60" name="Text 48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61" name="Text 49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Architecture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PLANE · DEEP DIVE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Request, Secured in Milliseconds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checks run synchronously on the critical path — fast enough that clients never notice.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64896" y="2148840"/>
            <a:ext cx="1993392" cy="2651760"/>
          </a:xfrm>
          <a:prstGeom prst="roundRect">
            <a:avLst>
              <a:gd name="adj" fmla="val 4587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3768" y="2267712"/>
            <a:ext cx="329184" cy="329184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3768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404976" y="2752344"/>
            <a:ext cx="713232" cy="713232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9" name="Image 0" descr="/home/claude/aegisgate/icons/glob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7856" y="2935224"/>
            <a:ext cx="347472" cy="34747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74624" y="356616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 Proxy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11200" y="393192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Intercepts the incoming HTTP request at the edge (port 8080).</a:t>
            </a:r>
            <a:endParaRPr lang="en-US" sz="970" dirty="0"/>
          </a:p>
        </p:txBody>
      </p:sp>
      <p:sp>
        <p:nvSpPr>
          <p:cNvPr id="12" name="Text 9"/>
          <p:cNvSpPr/>
          <p:nvPr/>
        </p:nvSpPr>
        <p:spPr>
          <a:xfrm>
            <a:off x="2740000" y="2148840"/>
            <a:ext cx="2103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932024" y="2148840"/>
            <a:ext cx="1993392" cy="2651760"/>
          </a:xfrm>
          <a:prstGeom prst="roundRect">
            <a:avLst>
              <a:gd name="adj" fmla="val 4587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050896" y="2267712"/>
            <a:ext cx="329184" cy="329184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050896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3572104" y="2752344"/>
            <a:ext cx="713232" cy="713232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7" name="Image 1" descr="/home/claude/aegisgate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4984" y="2935224"/>
            <a:ext cx="347472" cy="3474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041752" y="356616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078328" y="393192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verifies the token and its RBAC scopes.</a:t>
            </a:r>
            <a:endParaRPr lang="en-US" sz="970" dirty="0"/>
          </a:p>
        </p:txBody>
      </p:sp>
      <p:sp>
        <p:nvSpPr>
          <p:cNvPr id="20" name="Text 16"/>
          <p:cNvSpPr/>
          <p:nvPr/>
        </p:nvSpPr>
        <p:spPr>
          <a:xfrm>
            <a:off x="4907128" y="2148840"/>
            <a:ext cx="2103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5099152" y="2148840"/>
            <a:ext cx="1993392" cy="2651760"/>
          </a:xfrm>
          <a:prstGeom prst="roundRect">
            <a:avLst>
              <a:gd name="adj" fmla="val 4587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218024" y="2267712"/>
            <a:ext cx="329184" cy="329184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218024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5739232" y="2752344"/>
            <a:ext cx="713232" cy="713232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5" name="Image 2" descr="/home/claude/aegisgate/icons/activ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2112" y="2935224"/>
            <a:ext cx="347472" cy="34747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08880" y="356616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5245456" y="393192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a Redis sliding-window counter to block abuse.</a:t>
            </a:r>
            <a:endParaRPr lang="en-US" sz="970" dirty="0"/>
          </a:p>
        </p:txBody>
      </p:sp>
      <p:sp>
        <p:nvSpPr>
          <p:cNvPr id="28" name="Text 23"/>
          <p:cNvSpPr/>
          <p:nvPr/>
        </p:nvSpPr>
        <p:spPr>
          <a:xfrm>
            <a:off x="7074256" y="2148840"/>
            <a:ext cx="2103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9" name="Shape 24"/>
          <p:cNvSpPr/>
          <p:nvPr/>
        </p:nvSpPr>
        <p:spPr>
          <a:xfrm>
            <a:off x="7266280" y="2148840"/>
            <a:ext cx="1993392" cy="2651760"/>
          </a:xfrm>
          <a:prstGeom prst="roundRect">
            <a:avLst>
              <a:gd name="adj" fmla="val 4587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385152" y="2267712"/>
            <a:ext cx="329184" cy="329184"/>
          </a:xfrm>
          <a:prstGeom prst="ellipse">
            <a:avLst/>
          </a:prstGeom>
          <a:solidFill>
            <a:srgbClr val="1B2540"/>
          </a:solidFill>
          <a:ln w="15875">
            <a:solidFill>
              <a:srgbClr val="8B5CF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385152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7906360" y="2752344"/>
            <a:ext cx="713232" cy="713232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33" name="Image 3" descr="/home/claude/aegisgate/icons/cp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9240" y="2935224"/>
            <a:ext cx="347472" cy="34747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376008" y="356616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Firewall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7412584" y="393192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Isolation Forest model scores the payload's structure in &lt;2ms.</a:t>
            </a:r>
            <a:endParaRPr lang="en-US" sz="970" dirty="0"/>
          </a:p>
        </p:txBody>
      </p:sp>
      <p:sp>
        <p:nvSpPr>
          <p:cNvPr id="36" name="Text 30"/>
          <p:cNvSpPr/>
          <p:nvPr/>
        </p:nvSpPr>
        <p:spPr>
          <a:xfrm>
            <a:off x="9241384" y="2148840"/>
            <a:ext cx="21031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7" name="Shape 31"/>
          <p:cNvSpPr/>
          <p:nvPr/>
        </p:nvSpPr>
        <p:spPr>
          <a:xfrm>
            <a:off x="9433408" y="2148840"/>
            <a:ext cx="1993392" cy="2651760"/>
          </a:xfrm>
          <a:prstGeom prst="roundRect">
            <a:avLst>
              <a:gd name="adj" fmla="val 4587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9552280" y="2267712"/>
            <a:ext cx="329184" cy="329184"/>
          </a:xfrm>
          <a:prstGeom prst="ellipse">
            <a:avLst/>
          </a:prstGeom>
          <a:solidFill>
            <a:srgbClr val="1B2540"/>
          </a:solidFill>
          <a:ln w="15875">
            <a:solidFill>
              <a:srgbClr val="34D399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9552280" y="22677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10073488" y="2752344"/>
            <a:ext cx="713232" cy="713232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41" name="Image 4" descr="/home/claude/aegisgate/icons/serv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56368" y="2935224"/>
            <a:ext cx="347472" cy="34747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543136" y="3566160"/>
            <a:ext cx="1773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Forwarder</a:t>
            </a:r>
            <a:endParaRPr lang="en-US" sz="1250" dirty="0"/>
          </a:p>
        </p:txBody>
      </p:sp>
      <p:sp>
        <p:nvSpPr>
          <p:cNvPr id="43" name="Text 36"/>
          <p:cNvSpPr/>
          <p:nvPr/>
        </p:nvSpPr>
        <p:spPr>
          <a:xfrm>
            <a:off x="9579712" y="393192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requests are forwarded to the upstream microservice.</a:t>
            </a:r>
            <a:endParaRPr lang="en-US" sz="970" dirty="0"/>
          </a:p>
        </p:txBody>
      </p:sp>
      <p:sp>
        <p:nvSpPr>
          <p:cNvPr id="44" name="Shape 37"/>
          <p:cNvSpPr/>
          <p:nvPr/>
        </p:nvSpPr>
        <p:spPr>
          <a:xfrm>
            <a:off x="3200400" y="5212080"/>
            <a:ext cx="5788152" cy="914400"/>
          </a:xfrm>
          <a:prstGeom prst="roundRect">
            <a:avLst>
              <a:gd name="adj" fmla="val 12000"/>
            </a:avLst>
          </a:prstGeom>
          <a:solidFill>
            <a:srgbClr val="1B25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200400" y="5212080"/>
            <a:ext cx="5788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5ms  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gateway overhead, end to end</a:t>
            </a:r>
            <a:endParaRPr lang="en-US" sz="3000" dirty="0"/>
          </a:p>
        </p:txBody>
      </p:sp>
      <p:sp>
        <p:nvSpPr>
          <p:cNvPr id="46" name="Text 39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47" name="Text 40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Data Plane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PLANE · DEEP DIVE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When Something Looks Off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traffic never blocks a live request — it's queued, batched, and explained by an LLM in the background.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96316" y="2148840"/>
            <a:ext cx="1700784" cy="2331720"/>
          </a:xfrm>
          <a:prstGeom prst="roundRect">
            <a:avLst>
              <a:gd name="adj" fmla="val 5376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44956" y="2414016"/>
            <a:ext cx="603504" cy="603504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7" name="Image 0" descr="/home/claude/aegisgate/icons/alert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404" y="256946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7756" y="308152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Payload</a:t>
            </a:r>
            <a:endParaRPr lang="en-US" sz="1080" dirty="0"/>
          </a:p>
        </p:txBody>
      </p:sp>
      <p:sp>
        <p:nvSpPr>
          <p:cNvPr id="9" name="Text 6"/>
          <p:cNvSpPr/>
          <p:nvPr/>
        </p:nvSpPr>
        <p:spPr>
          <a:xfrm>
            <a:off x="806044" y="35661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Firewall marks a request as malicious.</a:t>
            </a:r>
            <a:endParaRPr lang="en-US" sz="870" dirty="0"/>
          </a:p>
        </p:txBody>
      </p:sp>
      <p:sp>
        <p:nvSpPr>
          <p:cNvPr id="10" name="Text 7"/>
          <p:cNvSpPr/>
          <p:nvPr/>
        </p:nvSpPr>
        <p:spPr>
          <a:xfrm>
            <a:off x="2378812" y="2148840"/>
            <a:ext cx="1554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515972" y="2148840"/>
            <a:ext cx="1700784" cy="2331720"/>
          </a:xfrm>
          <a:prstGeom prst="roundRect">
            <a:avLst>
              <a:gd name="adj" fmla="val 5376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64612" y="2414016"/>
            <a:ext cx="603504" cy="603504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13" name="Image 1" descr="/home/claude/aegisgate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0060" y="256946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7412" y="308152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Buffer</a:t>
            </a:r>
            <a:endParaRPr lang="en-US" sz="1080" dirty="0"/>
          </a:p>
        </p:txBody>
      </p:sp>
      <p:sp>
        <p:nvSpPr>
          <p:cNvPr id="15" name="Text 11"/>
          <p:cNvSpPr/>
          <p:nvPr/>
        </p:nvSpPr>
        <p:spPr>
          <a:xfrm>
            <a:off x="2625700" y="35661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 safely in memory if the broker is briefly unavailable.</a:t>
            </a:r>
            <a:endParaRPr lang="en-US" sz="870" dirty="0"/>
          </a:p>
        </p:txBody>
      </p:sp>
      <p:sp>
        <p:nvSpPr>
          <p:cNvPr id="16" name="Text 12"/>
          <p:cNvSpPr/>
          <p:nvPr/>
        </p:nvSpPr>
        <p:spPr>
          <a:xfrm>
            <a:off x="4198468" y="2148840"/>
            <a:ext cx="1554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335628" y="2148840"/>
            <a:ext cx="1700784" cy="2331720"/>
          </a:xfrm>
          <a:prstGeom prst="roundRect">
            <a:avLst>
              <a:gd name="adj" fmla="val 5376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884268" y="2414016"/>
            <a:ext cx="603504" cy="603504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19" name="Image 2" descr="/home/claude/aegisgate/icons/rep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9716" y="2569464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27068" y="308152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Broker</a:t>
            </a:r>
            <a:endParaRPr lang="en-US" sz="1080" dirty="0"/>
          </a:p>
        </p:txBody>
      </p:sp>
      <p:sp>
        <p:nvSpPr>
          <p:cNvPr id="21" name="Text 16"/>
          <p:cNvSpPr/>
          <p:nvPr/>
        </p:nvSpPr>
        <p:spPr>
          <a:xfrm>
            <a:off x="4445356" y="35661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the event over AMQP to the audit worker.</a:t>
            </a:r>
            <a:endParaRPr lang="en-US" sz="870" dirty="0"/>
          </a:p>
        </p:txBody>
      </p:sp>
      <p:sp>
        <p:nvSpPr>
          <p:cNvPr id="22" name="Text 17"/>
          <p:cNvSpPr/>
          <p:nvPr/>
        </p:nvSpPr>
        <p:spPr>
          <a:xfrm>
            <a:off x="6018124" y="2148840"/>
            <a:ext cx="1554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155284" y="2148840"/>
            <a:ext cx="1700784" cy="2331720"/>
          </a:xfrm>
          <a:prstGeom prst="roundRect">
            <a:avLst>
              <a:gd name="adj" fmla="val 5376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703924" y="2414016"/>
            <a:ext cx="603504" cy="603504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5" name="Image 3" descr="/home/claude/aegisgate/icons/ey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9372" y="2569464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46724" y="308152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Worker</a:t>
            </a:r>
            <a:endParaRPr lang="en-US" sz="1080" dirty="0"/>
          </a:p>
        </p:txBody>
      </p:sp>
      <p:sp>
        <p:nvSpPr>
          <p:cNvPr id="27" name="Text 21"/>
          <p:cNvSpPr/>
          <p:nvPr/>
        </p:nvSpPr>
        <p:spPr>
          <a:xfrm>
            <a:off x="6265012" y="35661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Batches events — 10 records or every 30 seconds.</a:t>
            </a:r>
            <a:endParaRPr lang="en-US" sz="870" dirty="0"/>
          </a:p>
        </p:txBody>
      </p:sp>
      <p:sp>
        <p:nvSpPr>
          <p:cNvPr id="28" name="Text 22"/>
          <p:cNvSpPr/>
          <p:nvPr/>
        </p:nvSpPr>
        <p:spPr>
          <a:xfrm>
            <a:off x="7837780" y="2148840"/>
            <a:ext cx="1554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7974940" y="2148840"/>
            <a:ext cx="1700784" cy="2331720"/>
          </a:xfrm>
          <a:prstGeom prst="roundRect">
            <a:avLst>
              <a:gd name="adj" fmla="val 5376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523580" y="2414016"/>
            <a:ext cx="603504" cy="603504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31" name="Image 4" descr="/home/claude/aegisgate/icons/messagesqua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9028" y="2569464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066380" y="308152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</a:t>
            </a:r>
            <a:endParaRPr lang="en-US" sz="1080" dirty="0"/>
          </a:p>
        </p:txBody>
      </p:sp>
      <p:sp>
        <p:nvSpPr>
          <p:cNvPr id="33" name="Text 26"/>
          <p:cNvSpPr/>
          <p:nvPr/>
        </p:nvSpPr>
        <p:spPr>
          <a:xfrm>
            <a:off x="8084668" y="35661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Categorizes attack vector, severity, and writes a summary.</a:t>
            </a:r>
            <a:endParaRPr lang="en-US" sz="870" dirty="0"/>
          </a:p>
        </p:txBody>
      </p:sp>
      <p:sp>
        <p:nvSpPr>
          <p:cNvPr id="34" name="Text 27"/>
          <p:cNvSpPr/>
          <p:nvPr/>
        </p:nvSpPr>
        <p:spPr>
          <a:xfrm>
            <a:off x="9657436" y="2148840"/>
            <a:ext cx="15544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9794596" y="2148840"/>
            <a:ext cx="1700784" cy="2331720"/>
          </a:xfrm>
          <a:prstGeom prst="roundRect">
            <a:avLst>
              <a:gd name="adj" fmla="val 5376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0343236" y="2414016"/>
            <a:ext cx="603504" cy="603504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37" name="Image 5" descr="/home/claude/aegisgate/icons/databas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98684" y="2569464"/>
            <a:ext cx="292608" cy="29260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886036" y="3081528"/>
            <a:ext cx="15179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8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080" dirty="0"/>
          </a:p>
        </p:txBody>
      </p:sp>
      <p:sp>
        <p:nvSpPr>
          <p:cNvPr id="39" name="Text 31"/>
          <p:cNvSpPr/>
          <p:nvPr/>
        </p:nvSpPr>
        <p:spPr>
          <a:xfrm>
            <a:off x="9904324" y="3566160"/>
            <a:ext cx="14813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87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Bulk-inserted for the dashboard to query.</a:t>
            </a:r>
            <a:endParaRPr lang="en-US" sz="870" dirty="0"/>
          </a:p>
        </p:txBody>
      </p:sp>
      <p:sp>
        <p:nvSpPr>
          <p:cNvPr id="40" name="Shape 32"/>
          <p:cNvSpPr/>
          <p:nvPr/>
        </p:nvSpPr>
        <p:spPr>
          <a:xfrm>
            <a:off x="1554480" y="5029200"/>
            <a:ext cx="365760" cy="365760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41" name="Image 6" descr="/home/claude/aegisgate/icons/check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55064" y="5129784"/>
            <a:ext cx="164592" cy="164592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2029968" y="4892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broker:  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RabbitMQ drops, events queue in memory and drain automatically once it reconnects.</a:t>
            </a:r>
            <a:endParaRPr lang="en-US" sz="1050" dirty="0"/>
          </a:p>
        </p:txBody>
      </p:sp>
      <p:sp>
        <p:nvSpPr>
          <p:cNvPr id="43" name="Shape 34"/>
          <p:cNvSpPr/>
          <p:nvPr/>
        </p:nvSpPr>
        <p:spPr>
          <a:xfrm>
            <a:off x="6629400" y="5029200"/>
            <a:ext cx="365760" cy="365760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44" name="Image 7" descr="/home/claude/aegisgate/icons/checkcirc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9984" y="5129784"/>
            <a:ext cx="164592" cy="164592"/>
          </a:xfrm>
          <a:prstGeom prst="rect">
            <a:avLst/>
          </a:prstGeom>
        </p:spPr>
      </p:pic>
      <p:sp>
        <p:nvSpPr>
          <p:cNvPr id="45" name="Text 35"/>
          <p:cNvSpPr/>
          <p:nvPr/>
        </p:nvSpPr>
        <p:spPr>
          <a:xfrm>
            <a:off x="7104888" y="48920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path fails open:  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Timeouts on the DB or LLM release events back to the queue — nothing is lost.</a:t>
            </a:r>
            <a:endParaRPr lang="en-US" sz="1050" dirty="0"/>
          </a:p>
        </p:txBody>
      </p:sp>
      <p:sp>
        <p:nvSpPr>
          <p:cNvPr id="100" name="Matrix Label"/>
          <p:cNvSpPr/>
          <p:nvPr/>
        </p:nvSpPr>
        <p:spPr>
          <a:xfrm>
            <a:off x="548640" y="5578920"/>
            <a:ext cx="11064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spc="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POLICY IS COMPONENT-SPECIFIC, NOT BLANKET</a:t>
            </a:r>
            <a:endParaRPr lang="en-US" sz="1000" dirty="0"/>
          </a:p>
        </p:txBody>
      </p:sp>
      <p:sp>
        <p:nvSpPr>
          <p:cNvPr id="101" name="Matrix Col1 Title"/>
          <p:cNvSpPr/>
          <p:nvPr/>
        </p:nvSpPr>
        <p:spPr>
          <a:xfrm>
            <a:off x="548640" y="5852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Limiter</a:t>
            </a:r>
            <a:endParaRPr lang="en-US" sz="1150" dirty="0"/>
          </a:p>
        </p:txBody>
      </p:sp>
      <p:sp>
        <p:nvSpPr>
          <p:cNvPr id="102" name="Matrix Col1 Desc"/>
          <p:cNvSpPr/>
          <p:nvPr/>
        </p:nvSpPr>
        <p:spPr>
          <a:xfrm>
            <a:off x="548640" y="61417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Fail-Open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Redis down, traffic keeps flowing.</a:t>
            </a:r>
            <a:endParaRPr lang="en-US" sz="950" dirty="0"/>
          </a:p>
        </p:txBody>
      </p:sp>
      <p:sp>
        <p:nvSpPr>
          <p:cNvPr id="103" name="Matrix Col2 Title"/>
          <p:cNvSpPr/>
          <p:nvPr/>
        </p:nvSpPr>
        <p:spPr>
          <a:xfrm>
            <a:off x="4335628" y="5852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JWT Gate</a:t>
            </a:r>
            <a:endParaRPr lang="en-US" sz="1150" dirty="0"/>
          </a:p>
        </p:txBody>
      </p:sp>
      <p:sp>
        <p:nvSpPr>
          <p:cNvPr id="104" name="Matrix Col2 Desc"/>
          <p:cNvSpPr/>
          <p:nvPr/>
        </p:nvSpPr>
        <p:spPr>
          <a:xfrm>
            <a:off x="4335628" y="61417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Fail-Closed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DB down, rejects with HTTP 500.</a:t>
            </a:r>
            <a:endParaRPr lang="en-US" sz="950" dirty="0"/>
          </a:p>
        </p:txBody>
      </p:sp>
      <p:sp>
        <p:nvSpPr>
          <p:cNvPr id="105" name="Matrix Col3 Title"/>
          <p:cNvSpPr/>
          <p:nvPr/>
        </p:nvSpPr>
        <p:spPr>
          <a:xfrm>
            <a:off x="8130388" y="585216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Engine</a:t>
            </a:r>
            <a:endParaRPr lang="en-US" sz="1150" dirty="0"/>
          </a:p>
        </p:txBody>
      </p:sp>
      <p:sp>
        <p:nvSpPr>
          <p:cNvPr id="106" name="Matrix Col3 Desc"/>
          <p:cNvSpPr/>
          <p:nvPr/>
        </p:nvSpPr>
        <p:spPr>
          <a:xfrm>
            <a:off x="8130388" y="614172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Fail-Open</a:t>
            </a: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logs a warning header, forwards traffic.</a:t>
            </a:r>
            <a:endParaRPr lang="en-US" sz="950" dirty="0"/>
          </a:p>
        </p:txBody>
      </p:sp>
      <p:sp>
        <p:nvSpPr>
          <p:cNvPr id="46" name="Text 3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Control Plane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Capabilities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8300" y="169164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7756" y="1865376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home/claude/aegisgate/icons/activ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0" y="201168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36980" y="187452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Rate Limiting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42620" y="2532888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Sliding-window limiter backed by Redis stops DDoS and brute-force attempts.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26484" y="169164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45940" y="1865376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1" name="Image 1" descr="/home/claude/aegisgate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244" y="201168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95164" y="187452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RBAC Validation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600804" y="2532888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Cryptographically verifies tokens and access scopes before proxying.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084668" y="169164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04124" y="1865376"/>
            <a:ext cx="566928" cy="566928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16" name="Image 2" descr="/home/claude/aegisgate/icons/cp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0428" y="201168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953348" y="187452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Anomaly Detection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58988" y="2532888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embedded Isolation Forest model flags structural anomalies in under 2ms.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568300" y="3776472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87756" y="3950208"/>
            <a:ext cx="566928" cy="566928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21" name="Image 3" descr="/home/claude/aegisgate/icons/repe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060" y="4096512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36980" y="395935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Asynchronous Event Pipeline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42620" y="46177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Offloads flagged payloads to RabbitMQ with zero impact on live latency.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326484" y="3776472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45940" y="3950208"/>
            <a:ext cx="566928" cy="566928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26" name="Image 4" descr="/home/claude/aegisgate/icons/messagesqua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2244" y="4096512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95164" y="395935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Threat Categorization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600804" y="46177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LLM labels attack vectors and severity, and writes plain-English summaries.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084668" y="3776472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304124" y="3950208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31" name="Image 5" descr="/home/claude/aegisgate/icons/barchar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0428" y="4096512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953348" y="395935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Analytics Dashboard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58988" y="461772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multi-tenant telemetry with searchable AI threat reports.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Capabilities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Services, One Mesh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3728" y="17373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7192" y="1975104"/>
            <a:ext cx="713232" cy="713232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6" name="Image 0" descr="/home/claude/aegisgate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072" y="21579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06728" y="19568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gateway-core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1706728" y="2359152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22D3EE">
              <a:alpha val="16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706728" y="23591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/ TypeScript · :8080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883768" y="28529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public edge: auth routing, API-key provisioning, and the synchronous AI Firewall middleware.</a:t>
            </a:r>
            <a:endParaRPr lang="en-US" sz="1130" dirty="0"/>
          </a:p>
        </p:txBody>
      </p:sp>
      <p:sp>
        <p:nvSpPr>
          <p:cNvPr id="11" name="Shape 8"/>
          <p:cNvSpPr/>
          <p:nvPr/>
        </p:nvSpPr>
        <p:spPr>
          <a:xfrm>
            <a:off x="6233008" y="173736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16472" y="1975104"/>
            <a:ext cx="713232" cy="713232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13" name="Image 1" descr="/home/claude/aegisgate/icons/ey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9352" y="2157984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76008" y="19568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ai-anomaly-engine</a:t>
            </a:r>
            <a:endParaRPr lang="en-US" sz="1650" dirty="0"/>
          </a:p>
        </p:txBody>
      </p:sp>
      <p:sp>
        <p:nvSpPr>
          <p:cNvPr id="15" name="Shape 11"/>
          <p:cNvSpPr/>
          <p:nvPr/>
        </p:nvSpPr>
        <p:spPr>
          <a:xfrm>
            <a:off x="7376008" y="2359152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8B5CF6">
              <a:alpha val="16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7376008" y="23591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5C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/ FastAPI · :8000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6553048" y="285292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Isolation Forest model that scores request structure for anomalies.</a:t>
            </a:r>
            <a:endParaRPr lang="en-US" sz="1130" dirty="0"/>
          </a:p>
        </p:txBody>
      </p:sp>
      <p:sp>
        <p:nvSpPr>
          <p:cNvPr id="18" name="Shape 14"/>
          <p:cNvSpPr/>
          <p:nvPr/>
        </p:nvSpPr>
        <p:spPr>
          <a:xfrm>
            <a:off x="563728" y="39776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7192" y="4215384"/>
            <a:ext cx="713232" cy="713232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20" name="Image 2" descr="/home/claude/aegisgate/icons/repea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072" y="4398264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06728" y="41970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async-audit-worker</a:t>
            </a:r>
            <a:endParaRPr lang="en-US" sz="1650" dirty="0"/>
          </a:p>
        </p:txBody>
      </p:sp>
      <p:sp>
        <p:nvSpPr>
          <p:cNvPr id="22" name="Shape 17"/>
          <p:cNvSpPr/>
          <p:nvPr/>
        </p:nvSpPr>
        <p:spPr>
          <a:xfrm>
            <a:off x="1706728" y="4599432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F59E0B">
              <a:alpha val="16000"/>
            </a:srgbClr>
          </a:solidFill>
          <a:ln/>
        </p:spPr>
      </p:sp>
      <p:sp>
        <p:nvSpPr>
          <p:cNvPr id="23" name="Text 18"/>
          <p:cNvSpPr/>
          <p:nvPr/>
        </p:nvSpPr>
        <p:spPr>
          <a:xfrm>
            <a:off x="1706728" y="45994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Node.js / TypeScript · Daemon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883768" y="50932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Consumes flagged events, batches them, and calls Gemini for threat categorization.</a:t>
            </a:r>
            <a:endParaRPr lang="en-US" sz="1130" dirty="0"/>
          </a:p>
        </p:txBody>
      </p:sp>
      <p:sp>
        <p:nvSpPr>
          <p:cNvPr id="25" name="Shape 20"/>
          <p:cNvSpPr/>
          <p:nvPr/>
        </p:nvSpPr>
        <p:spPr>
          <a:xfrm>
            <a:off x="6233008" y="397764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6516472" y="4215384"/>
            <a:ext cx="713232" cy="713232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27" name="Image 3" descr="/home/claude/aegisgate/icons/moni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9352" y="4398264"/>
            <a:ext cx="347472" cy="34747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76008" y="41970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admin-dashboard</a:t>
            </a:r>
            <a:endParaRPr lang="en-US" sz="1650" dirty="0"/>
          </a:p>
        </p:txBody>
      </p:sp>
      <p:sp>
        <p:nvSpPr>
          <p:cNvPr id="29" name="Shape 23"/>
          <p:cNvSpPr/>
          <p:nvPr/>
        </p:nvSpPr>
        <p:spPr>
          <a:xfrm>
            <a:off x="7376008" y="4599432"/>
            <a:ext cx="3108960" cy="310896"/>
          </a:xfrm>
          <a:prstGeom prst="roundRect">
            <a:avLst>
              <a:gd name="adj" fmla="val 50000"/>
            </a:avLst>
          </a:prstGeom>
          <a:solidFill>
            <a:srgbClr val="34D399">
              <a:alpha val="16000"/>
            </a:srgbClr>
          </a:solidFill>
          <a:ln/>
        </p:spPr>
      </p:sp>
      <p:sp>
        <p:nvSpPr>
          <p:cNvPr id="30" name="Text 24"/>
          <p:cNvSpPr/>
          <p:nvPr/>
        </p:nvSpPr>
        <p:spPr>
          <a:xfrm>
            <a:off x="7376008" y="459943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 / Vite / TypeScript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6553048" y="509320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 terminal: live telemetry, blocked-IP metrics, and searchable threat reports.</a:t>
            </a:r>
            <a:endParaRPr lang="en-US" sz="1130" dirty="0"/>
          </a:p>
        </p:txBody>
      </p:sp>
      <p:sp>
        <p:nvSpPr>
          <p:cNvPr id="32" name="Text 26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Services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Engineered for Reliability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0868" y="18745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12468" y="2171700"/>
            <a:ext cx="777240" cy="777240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6" name="Image 0" descr="/home/claude/aegisgate/icons/z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636" y="237286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23748" y="3108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</a:rPr>
              <a:t>Fast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723748" y="3749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06628" y="416052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overhead the gateway adds to the raw request lifecycle, excluding background tasks.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35628" y="18745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07228" y="2171700"/>
            <a:ext cx="777240" cy="777240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12" name="Image 1" descr="/home/claude/aegisgate/icons/checkcirc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8396" y="2372868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18508" y="3108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4D3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Selective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4518508" y="3749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701388" y="416052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Feature-specific by design: rate limiting and the AI engine fail open to preserve uptime; auth fails closed, rejecting requests if the database is down.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0388" y="187452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501988" y="2171700"/>
            <a:ext cx="777240" cy="77724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8" name="Image 2" descr="/home/claude/aegisgate/icons/pack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3156" y="2372868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313268" y="310896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2D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8313268" y="37490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496148" y="416052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environment is fully containerized with Docker Compose for instant, reproducible local setup.</a:t>
            </a:r>
            <a:endParaRPr lang="en-US" sz="1100" dirty="0"/>
          </a:p>
        </p:txBody>
      </p:sp>
      <p:sp>
        <p:nvSpPr>
          <p:cNvPr id="200" name="Shape SecHygiene"/>
          <p:cNvSpPr/>
          <p:nvPr/>
        </p:nvSpPr>
        <p:spPr>
          <a:xfrm>
            <a:off x="3082880" y="5750000"/>
            <a:ext cx="365760" cy="36576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201" name="Image SecHygiene" descr="/home/claude/aegisgate/icons/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83464" y="5850584"/>
            <a:ext cx="164592" cy="164592"/>
          </a:xfrm>
          <a:prstGeom prst="rect">
            <a:avLst/>
          </a:prstGeom>
        </p:spPr>
      </p:pic>
      <p:sp>
        <p:nvSpPr>
          <p:cNvPr id="202" name="Text SecHygiene"/>
          <p:cNvSpPr/>
          <p:nvPr/>
        </p:nvSpPr>
        <p:spPr>
          <a:xfrm>
            <a:off x="3578640" y="5613400"/>
            <a:ext cx="550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Hygiene:  </a:t>
            </a: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 termination at the edge; JWTs live in HttpOnly, Secure cookies — never in localStorage.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  Reliability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Zero to Shielded in Minutes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22D3EE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84048" cy="384048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78992" y="2313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docker-compose.yml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78992" y="26243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your backend behind the proxy on a private, isolated network.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48640" y="3264408"/>
            <a:ext cx="384048" cy="384048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78992" y="3246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up -d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78992" y="355701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 the gateway, Redis cache, RabbitMQ broker, MongoDB, and AI engine together — one command, nothing left out.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548640" y="4197096"/>
            <a:ext cx="384048" cy="384048"/>
          </a:xfrm>
          <a:prstGeom prst="ellipse">
            <a:avLst/>
          </a:prstGeom>
          <a:solidFill>
            <a:srgbClr val="1B2540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78992" y="41788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traffic to :8080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78992" y="44897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requests with an x-aegis-api-key header — no backend code changes.</a:t>
            </a:r>
            <a:endParaRPr lang="en-US" sz="1030" dirty="0"/>
          </a:p>
        </p:txBody>
      </p:sp>
      <p:sp>
        <p:nvSpPr>
          <p:cNvPr id="18" name="Shape 16"/>
          <p:cNvSpPr/>
          <p:nvPr/>
        </p:nvSpPr>
        <p:spPr>
          <a:xfrm>
            <a:off x="6291072" y="164592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F59E0B">
              <a:alpha val="16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291072" y="164592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VPS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291072" y="2331720"/>
            <a:ext cx="384048" cy="384048"/>
          </a:xfrm>
          <a:prstGeom prst="ellipse">
            <a:avLst/>
          </a:prstGeom>
          <a:solidFill>
            <a:srgbClr val="1B2540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91072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21424" y="231343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scripts/vps-setup.sh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821424" y="262432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Docker, Compose, and applies strict UFW firewall rules automatically.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291072" y="3264408"/>
            <a:ext cx="384048" cy="384048"/>
          </a:xfrm>
          <a:prstGeom prst="ellipse">
            <a:avLst/>
          </a:prstGeom>
          <a:solidFill>
            <a:srgbClr val="1B2540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91072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21424" y="32461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Clone &amp; configure .env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821424" y="355701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MONGO_URI, JWT_SECRET, LLM_API_KEY, and base URLs.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291072" y="4197096"/>
            <a:ext cx="384048" cy="384048"/>
          </a:xfrm>
          <a:prstGeom prst="ellipse">
            <a:avLst/>
          </a:prstGeom>
          <a:solidFill>
            <a:srgbClr val="1B2540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91072" y="4197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821424" y="41788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-f prod up -d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821424" y="448970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the full production mesh in detached daemon mode.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548640" y="608076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0A0F1C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60807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docker compose up -d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—  Deployment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32038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 &amp; Production Roadmap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trade-offs today, and the concrete engineering work planned to close each one:</a:t>
            </a:r>
            <a:endParaRPr lang="en-US" sz="1350" dirty="0"/>
          </a:p>
        </p:txBody>
      </p:sp>
      <p:sp>
        <p:nvSpPr>
          <p:cNvPr id="300" name="Shape RM300"/>
          <p:cNvSpPr/>
          <p:nvPr/>
        </p:nvSpPr>
        <p:spPr>
          <a:xfrm>
            <a:off x="568300" y="205740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01" name="Shape RM301"/>
          <p:cNvSpPr/>
          <p:nvPr/>
        </p:nvSpPr>
        <p:spPr>
          <a:xfrm>
            <a:off x="787756" y="2231136"/>
            <a:ext cx="566928" cy="566928"/>
          </a:xfrm>
          <a:prstGeom prst="ellipse">
            <a:avLst/>
          </a:prstGeom>
          <a:solidFill>
            <a:srgbClr val="F59E0B">
              <a:alpha val="16000"/>
            </a:srgbClr>
          </a:solidFill>
          <a:ln w="15875">
            <a:solidFill>
              <a:srgbClr val="F59E0B"/>
            </a:solidFill>
            <a:prstDash val="solid"/>
          </a:ln>
        </p:spPr>
      </p:sp>
      <p:pic>
        <p:nvPicPr>
          <p:cNvPr id="302" name="Image RM302" descr="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4060" y="2377440"/>
            <a:ext cx="274320" cy="274320"/>
          </a:xfrm>
          <a:prstGeom prst="rect">
            <a:avLst/>
          </a:prstGeom>
        </p:spPr>
      </p:pic>
      <p:sp>
        <p:nvSpPr>
          <p:cNvPr id="303" name="Text RM303"/>
          <p:cNvSpPr/>
          <p:nvPr/>
        </p:nvSpPr>
        <p:spPr>
          <a:xfrm>
            <a:off x="1436980" y="224028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Dead-Letter Exchange (DLX)</a:t>
            </a:r>
            <a:endParaRPr lang="en-US" sz="1300" dirty="0"/>
          </a:p>
        </p:txBody>
      </p:sp>
      <p:sp>
        <p:nvSpPr>
          <p:cNvPr id="304" name="Text RM304"/>
          <p:cNvSpPr/>
          <p:nvPr/>
        </p:nvSpPr>
        <p:spPr>
          <a:xfrm>
            <a:off x="842620" y="2898648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DLX queues catch poison messages that repeatedly fail, preventing infinite re-queue loops.</a:t>
            </a:r>
            <a:endParaRPr lang="en-US" sz="1080" dirty="0"/>
          </a:p>
        </p:txBody>
      </p:sp>
      <p:sp>
        <p:nvSpPr>
          <p:cNvPr id="305" name="Shape RM305"/>
          <p:cNvSpPr/>
          <p:nvPr/>
        </p:nvSpPr>
        <p:spPr>
          <a:xfrm>
            <a:off x="4326484" y="205740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06" name="Shape RM306"/>
          <p:cNvSpPr/>
          <p:nvPr/>
        </p:nvSpPr>
        <p:spPr>
          <a:xfrm>
            <a:off x="4545940" y="2231136"/>
            <a:ext cx="566928" cy="566928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307" name="Image RM307" descr="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2244" y="2377440"/>
            <a:ext cx="274320" cy="274320"/>
          </a:xfrm>
          <a:prstGeom prst="rect">
            <a:avLst/>
          </a:prstGeom>
        </p:spPr>
      </p:pic>
      <p:sp>
        <p:nvSpPr>
          <p:cNvPr id="308" name="Text RM308"/>
          <p:cNvSpPr/>
          <p:nvPr/>
        </p:nvSpPr>
        <p:spPr>
          <a:xfrm>
            <a:off x="5195164" y="224028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ML Scoring</a:t>
            </a:r>
            <a:endParaRPr lang="en-US" sz="1300" dirty="0"/>
          </a:p>
        </p:txBody>
      </p:sp>
      <p:sp>
        <p:nvSpPr>
          <p:cNvPr id="309" name="Text RM309"/>
          <p:cNvSpPr/>
          <p:nvPr/>
        </p:nvSpPr>
        <p:spPr>
          <a:xfrm>
            <a:off x="4600804" y="2898648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Moving Isolation Forest from an HTTP microservice to an in-process ONNX runtime for guaranteed sub-ms speed.</a:t>
            </a:r>
            <a:endParaRPr lang="en-US" sz="1080" dirty="0"/>
          </a:p>
        </p:txBody>
      </p:sp>
      <p:sp>
        <p:nvSpPr>
          <p:cNvPr id="310" name="Shape RM310"/>
          <p:cNvSpPr/>
          <p:nvPr/>
        </p:nvSpPr>
        <p:spPr>
          <a:xfrm>
            <a:off x="8084668" y="2057400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11" name="Shape RM311"/>
          <p:cNvSpPr/>
          <p:nvPr/>
        </p:nvSpPr>
        <p:spPr>
          <a:xfrm>
            <a:off x="8304124" y="2231136"/>
            <a:ext cx="566928" cy="566928"/>
          </a:xfrm>
          <a:prstGeom prst="ellipse">
            <a:avLst/>
          </a:prstGeom>
          <a:solidFill>
            <a:srgbClr val="8B5CF6">
              <a:alpha val="16000"/>
            </a:srgbClr>
          </a:solidFill>
          <a:ln w="15875">
            <a:solidFill>
              <a:srgbClr val="8B5CF6"/>
            </a:solidFill>
            <a:prstDash val="solid"/>
          </a:ln>
        </p:spPr>
      </p:sp>
      <p:pic>
        <p:nvPicPr>
          <p:cNvPr id="312" name="Image RM312" descr="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0428" y="2377440"/>
            <a:ext cx="274320" cy="274320"/>
          </a:xfrm>
          <a:prstGeom prst="rect">
            <a:avLst/>
          </a:prstGeom>
        </p:spPr>
      </p:pic>
      <p:sp>
        <p:nvSpPr>
          <p:cNvPr id="313" name="Text RM313"/>
          <p:cNvSpPr/>
          <p:nvPr/>
        </p:nvSpPr>
        <p:spPr>
          <a:xfrm>
            <a:off x="8953348" y="224028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Per-Tenant ML Baselining</a:t>
            </a:r>
            <a:endParaRPr lang="en-US" sz="1300" dirty="0"/>
          </a:p>
        </p:txBody>
      </p:sp>
      <p:sp>
        <p:nvSpPr>
          <p:cNvPr id="314" name="Text RM314"/>
          <p:cNvSpPr/>
          <p:nvPr/>
        </p:nvSpPr>
        <p:spPr>
          <a:xfrm>
            <a:off x="8358988" y="2898648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Replacing the single global model with tenant-specific baselines trained on each backend's own clean traffic.</a:t>
            </a:r>
            <a:endParaRPr lang="en-US" sz="1080" dirty="0"/>
          </a:p>
        </p:txBody>
      </p:sp>
      <p:sp>
        <p:nvSpPr>
          <p:cNvPr id="315" name="Shape RM315"/>
          <p:cNvSpPr/>
          <p:nvPr/>
        </p:nvSpPr>
        <p:spPr>
          <a:xfrm>
            <a:off x="2432304" y="4142232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16" name="Shape RM316"/>
          <p:cNvSpPr/>
          <p:nvPr/>
        </p:nvSpPr>
        <p:spPr>
          <a:xfrm>
            <a:off x="2651760" y="4315968"/>
            <a:ext cx="566928" cy="566928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317" name="Image RM317" descr="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98064" y="4462272"/>
            <a:ext cx="274320" cy="274320"/>
          </a:xfrm>
          <a:prstGeom prst="rect">
            <a:avLst/>
          </a:prstGeom>
        </p:spPr>
      </p:pic>
      <p:sp>
        <p:nvSpPr>
          <p:cNvPr id="318" name="Text RM318"/>
          <p:cNvSpPr/>
          <p:nvPr/>
        </p:nvSpPr>
        <p:spPr>
          <a:xfrm>
            <a:off x="3300984" y="432511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Redaction Engine</a:t>
            </a:r>
            <a:endParaRPr lang="en-US" sz="1300" dirty="0"/>
          </a:p>
        </p:txBody>
      </p:sp>
      <p:sp>
        <p:nvSpPr>
          <p:cNvPr id="319" name="Text RM319"/>
          <p:cNvSpPr/>
          <p:nvPr/>
        </p:nvSpPr>
        <p:spPr>
          <a:xfrm>
            <a:off x="2706624" y="498348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Regex-based sanitization strips sensitive fields before payloads reach third-party LLMs like Gemini.</a:t>
            </a:r>
            <a:endParaRPr lang="en-US" sz="1080" dirty="0"/>
          </a:p>
        </p:txBody>
      </p:sp>
      <p:sp>
        <p:nvSpPr>
          <p:cNvPr id="320" name="Shape RM320"/>
          <p:cNvSpPr/>
          <p:nvPr/>
        </p:nvSpPr>
        <p:spPr>
          <a:xfrm>
            <a:off x="6190488" y="4142232"/>
            <a:ext cx="3538728" cy="1828800"/>
          </a:xfrm>
          <a:prstGeom prst="roundRect">
            <a:avLst>
              <a:gd name="adj" fmla="val 5000"/>
            </a:avLst>
          </a:prstGeom>
          <a:solidFill>
            <a:srgbClr val="141C30"/>
          </a:solidFill>
          <a:ln w="12700">
            <a:solidFill>
              <a:srgbClr val="26314A"/>
            </a:solidFill>
            <a:prstDash val="solid"/>
          </a:ln>
        </p:spPr>
      </p:sp>
      <p:sp>
        <p:nvSpPr>
          <p:cNvPr id="321" name="Shape RM321"/>
          <p:cNvSpPr/>
          <p:nvPr/>
        </p:nvSpPr>
        <p:spPr>
          <a:xfrm>
            <a:off x="6409944" y="4315968"/>
            <a:ext cx="566928" cy="566928"/>
          </a:xfrm>
          <a:prstGeom prst="ellipse">
            <a:avLst/>
          </a:prstGeom>
          <a:solidFill>
            <a:srgbClr val="34D399">
              <a:alpha val="16000"/>
            </a:srgbClr>
          </a:solidFill>
          <a:ln w="15875">
            <a:solidFill>
              <a:srgbClr val="34D399"/>
            </a:solidFill>
            <a:prstDash val="solid"/>
          </a:ln>
        </p:spPr>
      </p:sp>
      <p:pic>
        <p:nvPicPr>
          <p:cNvPr id="322" name="Image RM322" descr="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4462272"/>
            <a:ext cx="274320" cy="274320"/>
          </a:xfrm>
          <a:prstGeom prst="rect">
            <a:avLst/>
          </a:prstGeom>
        </p:spPr>
      </p:pic>
      <p:sp>
        <p:nvSpPr>
          <p:cNvPr id="323" name="Text RM323"/>
          <p:cNvSpPr/>
          <p:nvPr/>
        </p:nvSpPr>
        <p:spPr>
          <a:xfrm>
            <a:off x="7059168" y="4325112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Benchmarks</a:t>
            </a:r>
            <a:endParaRPr lang="en-US" sz="1300" dirty="0"/>
          </a:p>
        </p:txBody>
      </p:sp>
      <p:sp>
        <p:nvSpPr>
          <p:cNvPr id="324" name="Text RM324"/>
          <p:cNvSpPr/>
          <p:nvPr/>
        </p:nvSpPr>
        <p:spPr>
          <a:xfrm>
            <a:off x="6464808" y="4983480"/>
            <a:ext cx="29900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k6 load tests to publish real P95/P99 latency, precision, recall, and false-positive rates.</a:t>
            </a:r>
            <a:endParaRPr lang="en-US" sz="1080" dirty="0"/>
          </a:p>
        </p:txBody>
      </p:sp>
      <p:sp>
        <p:nvSpPr>
          <p:cNvPr id="22" name="Text 17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—  Roadmap &amp; Limitations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32038">
              <a:alpha val="55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1303020" y="2971350"/>
            <a:ext cx="1051560" cy="1051560"/>
          </a:xfrm>
          <a:prstGeom prst="ellipse">
            <a:avLst/>
          </a:prstGeom>
          <a:solidFill>
            <a:srgbClr val="22D3EE">
              <a:alpha val="16000"/>
            </a:srgbClr>
          </a:solidFill>
          <a:ln w="15875">
            <a:solidFill>
              <a:srgbClr val="22D3EE"/>
            </a:solidFill>
            <a:prstDash val="solid"/>
          </a:ln>
        </p:spPr>
      </p:sp>
      <p:pic>
        <p:nvPicPr>
          <p:cNvPr id="18" name="Image 2" descr="/home/claude/aegisgate/icons/sh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052" y="3227382"/>
            <a:ext cx="539496" cy="5394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651760" y="299421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8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2651760" y="354285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contributions welcome — AegisGate is open source.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2651760" y="390861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Sirvi  ·  Project Lead  ·  Status: Live / Production Deployed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57200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AegisGate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8076895" y="652881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—  Thank You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496</TotalTime>
  <Words>1298</Words>
  <Application>Microsoft Office PowerPoint</Application>
  <PresentationFormat>Widescreen</PresentationFormat>
  <Paragraphs>215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Rohit Sirvi</cp:lastModifiedBy>
  <cp:revision>2</cp:revision>
  <dcterms:created xsi:type="dcterms:W3CDTF">2026-08-04T10:54:14Z</dcterms:created>
  <dcterms:modified xsi:type="dcterms:W3CDTF">2026-08-05T15:52:42Z</dcterms:modified>
</cp:coreProperties>
</file>